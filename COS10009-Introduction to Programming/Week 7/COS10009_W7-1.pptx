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6" r:id="rId3"/>
    <p:sldId id="257" r:id="rId4"/>
    <p:sldId id="258" r:id="rId5"/>
    <p:sldId id="278" r:id="rId6"/>
    <p:sldId id="266" r:id="rId7"/>
    <p:sldId id="260" r:id="rId8"/>
    <p:sldId id="286" r:id="rId9"/>
    <p:sldId id="287" r:id="rId10"/>
    <p:sldId id="288" r:id="rId11"/>
    <p:sldId id="289" r:id="rId12"/>
    <p:sldId id="290" r:id="rId13"/>
    <p:sldId id="291" r:id="rId14"/>
    <p:sldId id="292" r:id="rId15"/>
    <p:sldId id="280" r:id="rId16"/>
    <p:sldId id="293" r:id="rId17"/>
    <p:sldId id="285" r:id="rId18"/>
    <p:sldId id="268" r:id="rId19"/>
    <p:sldId id="269" r:id="rId20"/>
    <p:sldId id="270" r:id="rId21"/>
    <p:sldId id="272" r:id="rId22"/>
    <p:sldId id="276" r:id="rId23"/>
    <p:sldId id="261" r:id="rId24"/>
    <p:sldId id="281" r:id="rId25"/>
    <p:sldId id="282" r:id="rId26"/>
    <p:sldId id="284" r:id="rId27"/>
    <p:sldId id="295" r:id="rId28"/>
    <p:sldId id="294" r:id="rId29"/>
    <p:sldId id="283" r:id="rId30"/>
    <p:sldId id="277" r:id="rId31"/>
    <p:sldId id="262" r:id="rId32"/>
    <p:sldId id="297" r:id="rId33"/>
    <p:sldId id="298" r:id="rId34"/>
    <p:sldId id="299" r:id="rId35"/>
    <p:sldId id="300" r:id="rId36"/>
    <p:sldId id="301" r:id="rId37"/>
    <p:sldId id="302" r:id="rId38"/>
    <p:sldId id="303" r:id="rId39"/>
    <p:sldId id="304" r:id="rId40"/>
    <p:sldId id="305" r:id="rId41"/>
    <p:sldId id="306" r:id="rId42"/>
    <p:sldId id="307" r:id="rId43"/>
    <p:sldId id="310" r:id="rId44"/>
    <p:sldId id="311" r:id="rId45"/>
    <p:sldId id="263" r:id="rId46"/>
    <p:sldId id="264" r:id="rId47"/>
    <p:sldId id="267" r:id="rId4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0716B9-5A07-ECB2-3D1A-E2D6329E8594}" v="23" dt="2026-03-01T10:53:42.811"/>
    <p1510:client id="{982D5C97-A5EC-8B7F-82C4-69CB880336A1}" v="1836" dt="2026-02-28T19:22:48.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01/03/2026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01/03/2026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01/03/2026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01/03/2026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
        <p:nvSpPr>
          <p:cNvPr id="8" name="TextBox 7">
            <a:extLst>
              <a:ext uri="{FF2B5EF4-FFF2-40B4-BE49-F238E27FC236}">
                <a16:creationId xmlns:a16="http://schemas.microsoft.com/office/drawing/2014/main" id="{362365E6-D7E4-4A5D-2092-B32B3C8A1A3A}"/>
              </a:ext>
            </a:extLst>
          </p:cNvPr>
          <p:cNvSpPr txBox="1"/>
          <p:nvPr>
            <p:extLst>
              <p:ext uri="{1162E1C5-73C7-4A58-AE30-91384D911F3F}">
                <p184:classification xmlns:p184="http://schemas.microsoft.com/office/powerpoint/2018/4/main" val="hdr"/>
              </p:ext>
            </p:extLst>
          </p:nvPr>
        </p:nvSpPr>
        <p:spPr>
          <a:xfrm>
            <a:off x="63500" y="63500"/>
            <a:ext cx="541338" cy="182880"/>
          </a:xfrm>
          <a:prstGeom prst="rect">
            <a:avLst/>
          </a:prstGeom>
        </p:spPr>
        <p:txBody>
          <a:bodyPr horzOverflow="overflow" lIns="0" tIns="0" rIns="0" bIns="0">
            <a:spAutoFit/>
          </a:bodyPr>
          <a:lstStyle/>
          <a:p>
            <a:pPr algn="l"/>
            <a:r>
              <a:rPr lang="en-GB" sz="1200">
                <a:solidFill>
                  <a:srgbClr val="000000">
                    <a:alpha val="50000"/>
                  </a:srgbClr>
                </a:solidFill>
                <a:latin typeface="Aptos" panose="020B0004020202020204" pitchFamily="34" charset="0"/>
              </a:rPr>
              <a:t>Internal</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1.udel.edu/CIS/474/pconrad/06S/topics/pbl/ConceptMapping/intoToConceptMapping.htm" TargetMode="External"/><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dsa/how-do-dynamic-arrays-work/"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dsa/how-do-dynamic-arrays-work/"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dsa/how-do-dynamic-arrays-work/"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w3schools.com/python/python_lists_methods.asp"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dsa/binary-search/"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COS10009 Week 7</a:t>
            </a:r>
          </a:p>
        </p:txBody>
      </p:sp>
      <p:sp>
        <p:nvSpPr>
          <p:cNvPr id="3" name="Subtitle 2"/>
          <p:cNvSpPr>
            <a:spLocks noGrp="1"/>
          </p:cNvSpPr>
          <p:nvPr>
            <p:ph type="subTitle" idx="1"/>
          </p:nvPr>
        </p:nvSpPr>
        <p:spPr/>
        <p:txBody>
          <a:bodyPr vert="horz" lIns="91440" tIns="45720" rIns="91440" bIns="45720" rtlCol="0" anchor="t">
            <a:normAutofit/>
          </a:bodyPr>
          <a:lstStyle/>
          <a:p>
            <a:r>
              <a:rPr lang="en-GB" dirty="0"/>
              <a:t>Data References, Advanced Arrays and searching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439F-E23A-8989-5006-5778FD95CFEE}"/>
              </a:ext>
            </a:extLst>
          </p:cNvPr>
          <p:cNvSpPr>
            <a:spLocks noGrp="1"/>
          </p:cNvSpPr>
          <p:nvPr>
            <p:ph type="title"/>
          </p:nvPr>
        </p:nvSpPr>
        <p:spPr/>
        <p:txBody>
          <a:bodyPr/>
          <a:lstStyle/>
          <a:p>
            <a:r>
              <a:rPr lang="en-GB"/>
              <a:t>Today we will cover the following topics:</a:t>
            </a:r>
          </a:p>
        </p:txBody>
      </p:sp>
      <p:pic>
        <p:nvPicPr>
          <p:cNvPr id="4" name="Content Placeholder 3" descr="A white rectangular sign with black text&#10;&#10;AI-generated content may be incorrect.">
            <a:extLst>
              <a:ext uri="{FF2B5EF4-FFF2-40B4-BE49-F238E27FC236}">
                <a16:creationId xmlns:a16="http://schemas.microsoft.com/office/drawing/2014/main" id="{1F7BD81B-E4C9-C974-9E04-1A316B81AF4F}"/>
              </a:ext>
            </a:extLst>
          </p:cNvPr>
          <p:cNvPicPr>
            <a:picLocks noGrp="1" noChangeAspect="1"/>
          </p:cNvPicPr>
          <p:nvPr>
            <p:ph idx="1"/>
          </p:nvPr>
        </p:nvPicPr>
        <p:blipFill>
          <a:blip r:embed="rId2"/>
          <a:stretch>
            <a:fillRect/>
          </a:stretch>
        </p:blipFill>
        <p:spPr>
          <a:xfrm>
            <a:off x="1354701" y="2865515"/>
            <a:ext cx="9470308" cy="2111784"/>
          </a:xfrm>
          <a:prstGeom prst="rect">
            <a:avLst/>
          </a:prstGeom>
        </p:spPr>
      </p:pic>
    </p:spTree>
    <p:extLst>
      <p:ext uri="{BB962C8B-B14F-4D97-AF65-F5344CB8AC3E}">
        <p14:creationId xmlns:p14="http://schemas.microsoft.com/office/powerpoint/2010/main" val="3085691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35D1-6959-4568-29A6-08536B716559}"/>
              </a:ext>
            </a:extLst>
          </p:cNvPr>
          <p:cNvSpPr>
            <a:spLocks noGrp="1"/>
          </p:cNvSpPr>
          <p:nvPr>
            <p:ph type="title"/>
          </p:nvPr>
        </p:nvSpPr>
        <p:spPr/>
        <p:txBody>
          <a:bodyPr/>
          <a:lstStyle/>
          <a:p>
            <a:r>
              <a:rPr lang="en-GB" dirty="0"/>
              <a:t>Review</a:t>
            </a:r>
          </a:p>
        </p:txBody>
      </p:sp>
      <p:pic>
        <p:nvPicPr>
          <p:cNvPr id="4" name="Content Placeholder 3" descr="A screenshot of a map&#10;&#10;AI-generated content may be incorrect.">
            <a:extLst>
              <a:ext uri="{FF2B5EF4-FFF2-40B4-BE49-F238E27FC236}">
                <a16:creationId xmlns:a16="http://schemas.microsoft.com/office/drawing/2014/main" id="{42AD3496-5410-811C-F552-058D78012AE3}"/>
              </a:ext>
            </a:extLst>
          </p:cNvPr>
          <p:cNvPicPr>
            <a:picLocks noGrp="1" noChangeAspect="1"/>
          </p:cNvPicPr>
          <p:nvPr>
            <p:ph idx="1"/>
          </p:nvPr>
        </p:nvPicPr>
        <p:blipFill>
          <a:blip r:embed="rId2"/>
          <a:stretch>
            <a:fillRect/>
          </a:stretch>
        </p:blipFill>
        <p:spPr>
          <a:xfrm>
            <a:off x="838200" y="2966740"/>
            <a:ext cx="10515600" cy="2069107"/>
          </a:xfrm>
          <a:prstGeom prst="rect">
            <a:avLst/>
          </a:prstGeom>
        </p:spPr>
      </p:pic>
    </p:spTree>
    <p:extLst>
      <p:ext uri="{BB962C8B-B14F-4D97-AF65-F5344CB8AC3E}">
        <p14:creationId xmlns:p14="http://schemas.microsoft.com/office/powerpoint/2010/main" val="1645458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2D0-ADEE-3AED-C3B7-C7AB03E6E388}"/>
              </a:ext>
            </a:extLst>
          </p:cNvPr>
          <p:cNvSpPr>
            <a:spLocks noGrp="1"/>
          </p:cNvSpPr>
          <p:nvPr>
            <p:ph type="title"/>
          </p:nvPr>
        </p:nvSpPr>
        <p:spPr/>
        <p:txBody>
          <a:bodyPr/>
          <a:lstStyle/>
          <a:p>
            <a:r>
              <a:rPr lang="en-GB"/>
              <a:t>Review – Warmup Task </a:t>
            </a:r>
          </a:p>
        </p:txBody>
      </p:sp>
      <p:sp>
        <p:nvSpPr>
          <p:cNvPr id="3" name="Content Placeholder 2">
            <a:extLst>
              <a:ext uri="{FF2B5EF4-FFF2-40B4-BE49-F238E27FC236}">
                <a16:creationId xmlns:a16="http://schemas.microsoft.com/office/drawing/2014/main" id="{48CBEE4A-165F-F28D-88E7-33F4A49333CF}"/>
              </a:ext>
            </a:extLst>
          </p:cNvPr>
          <p:cNvSpPr>
            <a:spLocks noGrp="1"/>
          </p:cNvSpPr>
          <p:nvPr>
            <p:ph idx="1"/>
          </p:nvPr>
        </p:nvSpPr>
        <p:spPr/>
        <p:txBody>
          <a:bodyPr vert="horz" lIns="91440" tIns="45720" rIns="91440" bIns="45720" rtlCol="0" anchor="t">
            <a:normAutofit/>
          </a:bodyPr>
          <a:lstStyle/>
          <a:p>
            <a:r>
              <a:rPr lang="en-GB"/>
              <a:t>Create a concept map – Try to link the topics and tools covered.</a:t>
            </a:r>
            <a:endParaRPr lang="en-US"/>
          </a:p>
          <a:p>
            <a:r>
              <a:rPr lang="en-GB" dirty="0"/>
              <a:t>On a piece of paper try to draw a map, then check with the students on your table if </a:t>
            </a:r>
            <a:r>
              <a:rPr lang="en-GB"/>
              <a:t>it is</a:t>
            </a:r>
            <a:r>
              <a:rPr lang="en-GB" dirty="0"/>
              <a:t> correct.</a:t>
            </a:r>
          </a:p>
          <a:p>
            <a:r>
              <a:rPr lang="en-GB"/>
              <a:t>Feel Free to use some of the words below or add your own (Python related)</a:t>
            </a:r>
            <a:endParaRPr lang="en-GB" dirty="0"/>
          </a:p>
          <a:p>
            <a:endParaRPr lang="en-GB" dirty="0"/>
          </a:p>
        </p:txBody>
      </p:sp>
      <p:sp>
        <p:nvSpPr>
          <p:cNvPr id="4" name="TextBox 3">
            <a:extLst>
              <a:ext uri="{FF2B5EF4-FFF2-40B4-BE49-F238E27FC236}">
                <a16:creationId xmlns:a16="http://schemas.microsoft.com/office/drawing/2014/main" id="{E47B17C5-D89E-E86B-5BB8-A81F20E0D15D}"/>
              </a:ext>
            </a:extLst>
          </p:cNvPr>
          <p:cNvSpPr txBox="1"/>
          <p:nvPr/>
        </p:nvSpPr>
        <p:spPr>
          <a:xfrm>
            <a:off x="1384702" y="4338779"/>
            <a:ext cx="940861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Concepts - (Repetition, Functional Decomposition)</a:t>
            </a:r>
            <a:endParaRPr lang="en-US" dirty="0"/>
          </a:p>
          <a:p>
            <a:pPr algn="l"/>
            <a:endParaRPr lang="en-GB" dirty="0"/>
          </a:p>
          <a:p>
            <a:r>
              <a:rPr lang="en-GB" dirty="0"/>
              <a:t>Artefacts (Byproduct) - (Program, functions, diagrams, files)</a:t>
            </a:r>
          </a:p>
          <a:p>
            <a:endParaRPr lang="en-GB" dirty="0"/>
          </a:p>
          <a:p>
            <a:r>
              <a:rPr lang="en-GB" dirty="0"/>
              <a:t>Actions - (Assignment, function call, condition evaluation)</a:t>
            </a:r>
          </a:p>
          <a:p>
            <a:endParaRPr lang="en-GB" dirty="0"/>
          </a:p>
          <a:p>
            <a:r>
              <a:rPr lang="en-GB" dirty="0"/>
              <a:t>Terminology - (Local/global variable, parameter vs argument)</a:t>
            </a:r>
          </a:p>
          <a:p>
            <a:endParaRPr lang="en-GB" dirty="0"/>
          </a:p>
        </p:txBody>
      </p:sp>
      <p:sp>
        <p:nvSpPr>
          <p:cNvPr id="5" name="Star: 5 Points 4">
            <a:extLst>
              <a:ext uri="{FF2B5EF4-FFF2-40B4-BE49-F238E27FC236}">
                <a16:creationId xmlns:a16="http://schemas.microsoft.com/office/drawing/2014/main" id="{1A3666C1-9217-D253-263E-99F77A5E3853}"/>
              </a:ext>
            </a:extLst>
          </p:cNvPr>
          <p:cNvSpPr/>
          <p:nvPr/>
        </p:nvSpPr>
        <p:spPr>
          <a:xfrm>
            <a:off x="7496466" y="3660261"/>
            <a:ext cx="4009107" cy="3049856"/>
          </a:xfrm>
          <a:prstGeom prst="star5">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6" name="TextBox 5">
            <a:extLst>
              <a:ext uri="{FF2B5EF4-FFF2-40B4-BE49-F238E27FC236}">
                <a16:creationId xmlns:a16="http://schemas.microsoft.com/office/drawing/2014/main" id="{16F9841C-BBB0-998C-8638-32A3A5A36845}"/>
              </a:ext>
            </a:extLst>
          </p:cNvPr>
          <p:cNvSpPr txBox="1"/>
          <p:nvPr/>
        </p:nvSpPr>
        <p:spPr>
          <a:xfrm>
            <a:off x="8864231" y="4792677"/>
            <a:ext cx="177787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You can clean this up and submit it for task 7.1</a:t>
            </a:r>
          </a:p>
        </p:txBody>
      </p:sp>
    </p:spTree>
    <p:extLst>
      <p:ext uri="{BB962C8B-B14F-4D97-AF65-F5344CB8AC3E}">
        <p14:creationId xmlns:p14="http://schemas.microsoft.com/office/powerpoint/2010/main" val="363341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37CB-E9C3-AB48-3BAF-178614597A40}"/>
              </a:ext>
            </a:extLst>
          </p:cNvPr>
          <p:cNvSpPr>
            <a:spLocks noGrp="1"/>
          </p:cNvSpPr>
          <p:nvPr>
            <p:ph type="title"/>
          </p:nvPr>
        </p:nvSpPr>
        <p:spPr/>
        <p:txBody>
          <a:bodyPr/>
          <a:lstStyle/>
          <a:p>
            <a:r>
              <a:rPr lang="en-GB" dirty="0"/>
              <a:t>Concept Map Example</a:t>
            </a:r>
          </a:p>
        </p:txBody>
      </p:sp>
      <p:pic>
        <p:nvPicPr>
          <p:cNvPr id="5" name="Content Placeholder 4" descr="Concept Map of Java">
            <a:extLst>
              <a:ext uri="{FF2B5EF4-FFF2-40B4-BE49-F238E27FC236}">
                <a16:creationId xmlns:a16="http://schemas.microsoft.com/office/drawing/2014/main" id="{CD34DEC1-9D48-6158-ED6E-1EB778B9F229}"/>
              </a:ext>
            </a:extLst>
          </p:cNvPr>
          <p:cNvPicPr>
            <a:picLocks noGrp="1" noChangeAspect="1"/>
          </p:cNvPicPr>
          <p:nvPr>
            <p:ph idx="1"/>
          </p:nvPr>
        </p:nvPicPr>
        <p:blipFill>
          <a:blip r:embed="rId2"/>
          <a:stretch>
            <a:fillRect/>
          </a:stretch>
        </p:blipFill>
        <p:spPr>
          <a:xfrm>
            <a:off x="1376928" y="1235170"/>
            <a:ext cx="8172449" cy="4821908"/>
          </a:xfrm>
          <a:prstGeom prst="rect">
            <a:avLst/>
          </a:prstGeom>
        </p:spPr>
      </p:pic>
      <p:sp>
        <p:nvSpPr>
          <p:cNvPr id="4" name="TextBox 3">
            <a:extLst>
              <a:ext uri="{FF2B5EF4-FFF2-40B4-BE49-F238E27FC236}">
                <a16:creationId xmlns:a16="http://schemas.microsoft.com/office/drawing/2014/main" id="{04E0341D-E78B-0828-895F-43776B4E8680}"/>
              </a:ext>
            </a:extLst>
          </p:cNvPr>
          <p:cNvSpPr txBox="1"/>
          <p:nvPr/>
        </p:nvSpPr>
        <p:spPr>
          <a:xfrm>
            <a:off x="6318400" y="5867024"/>
            <a:ext cx="54087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cs typeface="Times New Roman"/>
              </a:rPr>
              <a:t>P. Conrad (2006) - </a:t>
            </a:r>
            <a:r>
              <a:rPr lang="en-GB" dirty="0">
                <a:ea typeface="+mn-lt"/>
                <a:cs typeface="+mn-lt"/>
                <a:hlinkClick r:id="rId3"/>
              </a:rPr>
              <a:t>https://www1.udel.edu/CIS/474/pconrad/06S/topics/pbl/ConceptMapping/intoToConceptMapping.htm</a:t>
            </a:r>
            <a:r>
              <a:rPr lang="en-GB" dirty="0">
                <a:ea typeface="+mn-lt"/>
                <a:cs typeface="+mn-lt"/>
              </a:rPr>
              <a:t> </a:t>
            </a:r>
            <a:endParaRPr lang="en-US" dirty="0">
              <a:ea typeface="+mn-lt"/>
              <a:cs typeface="+mn-lt"/>
            </a:endParaRPr>
          </a:p>
          <a:p>
            <a:pPr algn="l"/>
            <a:endParaRPr lang="en-GB" dirty="0"/>
          </a:p>
        </p:txBody>
      </p:sp>
    </p:spTree>
    <p:extLst>
      <p:ext uri="{BB962C8B-B14F-4D97-AF65-F5344CB8AC3E}">
        <p14:creationId xmlns:p14="http://schemas.microsoft.com/office/powerpoint/2010/main" val="2066434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8D2E-65B6-9FD4-09FF-C8247918A10F}"/>
              </a:ext>
            </a:extLst>
          </p:cNvPr>
          <p:cNvSpPr>
            <a:spLocks noGrp="1"/>
          </p:cNvSpPr>
          <p:nvPr>
            <p:ph type="title"/>
          </p:nvPr>
        </p:nvSpPr>
        <p:spPr/>
        <p:txBody>
          <a:bodyPr/>
          <a:lstStyle/>
          <a:p>
            <a:r>
              <a:rPr lang="en-GB"/>
              <a:t>Problem Scenario - Think about... </a:t>
            </a:r>
          </a:p>
        </p:txBody>
      </p:sp>
      <p:sp>
        <p:nvSpPr>
          <p:cNvPr id="3" name="Content Placeholder 2">
            <a:extLst>
              <a:ext uri="{FF2B5EF4-FFF2-40B4-BE49-F238E27FC236}">
                <a16:creationId xmlns:a16="http://schemas.microsoft.com/office/drawing/2014/main" id="{CD44D766-4841-3B94-3C77-2A5366CBB325}"/>
              </a:ext>
            </a:extLst>
          </p:cNvPr>
          <p:cNvSpPr>
            <a:spLocks noGrp="1"/>
          </p:cNvSpPr>
          <p:nvPr>
            <p:ph idx="1"/>
          </p:nvPr>
        </p:nvSpPr>
        <p:spPr/>
        <p:txBody>
          <a:bodyPr vert="horz" lIns="91440" tIns="45720" rIns="91440" bIns="45720" rtlCol="0" anchor="t">
            <a:normAutofit/>
          </a:bodyPr>
          <a:lstStyle/>
          <a:p>
            <a:pPr marL="0" indent="0">
              <a:buNone/>
            </a:pPr>
            <a:r>
              <a:rPr lang="en-GB" b="1" dirty="0">
                <a:latin typeface="Aptos Display"/>
                <a:ea typeface="+mn-lt"/>
                <a:cs typeface="+mn-lt"/>
              </a:rPr>
              <a:t> You have:</a:t>
            </a:r>
            <a:endParaRPr lang="en-GB" dirty="0">
              <a:latin typeface="Aptos Display"/>
              <a:ea typeface="+mn-lt"/>
              <a:cs typeface="+mn-lt"/>
            </a:endParaRPr>
          </a:p>
          <a:p>
            <a:r>
              <a:rPr lang="en-GB" dirty="0">
                <a:latin typeface="Aptos Display"/>
                <a:ea typeface="+mn-lt"/>
                <a:cs typeface="+mn-lt"/>
              </a:rPr>
              <a:t>players = ["Tom", "Sara", "Leo", "Mina"]</a:t>
            </a:r>
            <a:br>
              <a:rPr lang="en-GB" dirty="0">
                <a:latin typeface="Aptos Display"/>
                <a:ea typeface="+mn-lt"/>
                <a:cs typeface="+mn-lt"/>
              </a:rPr>
            </a:br>
            <a:r>
              <a:rPr lang="en-GB" dirty="0">
                <a:latin typeface="Aptos Display"/>
                <a:ea typeface="+mn-lt"/>
                <a:cs typeface="+mn-lt"/>
              </a:rPr>
              <a:t>scores = [150, 200, 120, 180]</a:t>
            </a:r>
          </a:p>
          <a:p>
            <a:r>
              <a:rPr lang="en-GB" dirty="0">
                <a:latin typeface="Aptos Display"/>
                <a:ea typeface="+mn-lt"/>
                <a:cs typeface="+mn-lt"/>
              </a:rPr>
              <a:t>Tasks:</a:t>
            </a:r>
          </a:p>
          <a:p>
            <a:r>
              <a:rPr lang="en-GB" dirty="0">
                <a:latin typeface="Aptos Display"/>
                <a:ea typeface="+mn-lt"/>
                <a:cs typeface="+mn-lt"/>
              </a:rPr>
              <a:t>Find the highest score</a:t>
            </a:r>
          </a:p>
          <a:p>
            <a:r>
              <a:rPr lang="en-GB" dirty="0">
                <a:latin typeface="Aptos Display"/>
                <a:ea typeface="+mn-lt"/>
                <a:cs typeface="+mn-lt"/>
              </a:rPr>
              <a:t>Print the name of the winner</a:t>
            </a:r>
          </a:p>
          <a:p>
            <a:r>
              <a:rPr lang="en-GB" dirty="0">
                <a:latin typeface="Aptos Display"/>
                <a:ea typeface="+mn-lt"/>
                <a:cs typeface="+mn-lt"/>
              </a:rPr>
              <a:t>Find the rank of a given player</a:t>
            </a:r>
          </a:p>
          <a:p>
            <a:endParaRPr lang="en-GB" dirty="0"/>
          </a:p>
        </p:txBody>
      </p:sp>
      <p:pic>
        <p:nvPicPr>
          <p:cNvPr id="5" name="Content Placeholder 6" descr="A screenshot of a video game&#10;&#10;AI-generated content may be incorrect.">
            <a:extLst>
              <a:ext uri="{FF2B5EF4-FFF2-40B4-BE49-F238E27FC236}">
                <a16:creationId xmlns:a16="http://schemas.microsoft.com/office/drawing/2014/main" id="{D37CCC07-0E9E-EE3F-AC10-A52F40492105}"/>
              </a:ext>
            </a:extLst>
          </p:cNvPr>
          <p:cNvPicPr>
            <a:picLocks noChangeAspect="1"/>
          </p:cNvPicPr>
          <p:nvPr/>
        </p:nvPicPr>
        <p:blipFill>
          <a:blip r:embed="rId2"/>
          <a:stretch>
            <a:fillRect/>
          </a:stretch>
        </p:blipFill>
        <p:spPr>
          <a:xfrm>
            <a:off x="7289041" y="2175932"/>
            <a:ext cx="4305300" cy="3525865"/>
          </a:xfrm>
          <a:prstGeom prst="rect">
            <a:avLst/>
          </a:prstGeom>
        </p:spPr>
      </p:pic>
    </p:spTree>
    <p:extLst>
      <p:ext uri="{BB962C8B-B14F-4D97-AF65-F5344CB8AC3E}">
        <p14:creationId xmlns:p14="http://schemas.microsoft.com/office/powerpoint/2010/main" val="2229578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D4663-34D9-86D1-BE26-CC2C956AD1D0}"/>
              </a:ext>
            </a:extLst>
          </p:cNvPr>
          <p:cNvSpPr>
            <a:spLocks noGrp="1"/>
          </p:cNvSpPr>
          <p:nvPr>
            <p:ph type="title"/>
          </p:nvPr>
        </p:nvSpPr>
        <p:spPr/>
        <p:txBody>
          <a:bodyPr/>
          <a:lstStyle/>
          <a:p>
            <a:r>
              <a:rPr lang="en-GB" dirty="0"/>
              <a:t>Advanced Arrays &amp; Lists</a:t>
            </a:r>
          </a:p>
        </p:txBody>
      </p:sp>
      <p:sp>
        <p:nvSpPr>
          <p:cNvPr id="3" name="Content Placeholder 2">
            <a:extLst>
              <a:ext uri="{FF2B5EF4-FFF2-40B4-BE49-F238E27FC236}">
                <a16:creationId xmlns:a16="http://schemas.microsoft.com/office/drawing/2014/main" id="{CC8852ED-8DC9-B8E9-A450-C79B9AD8F1E2}"/>
              </a:ext>
            </a:extLst>
          </p:cNvPr>
          <p:cNvSpPr>
            <a:spLocks noGrp="1"/>
          </p:cNvSpPr>
          <p:nvPr>
            <p:ph idx="1"/>
          </p:nvPr>
        </p:nvSpPr>
        <p:spPr/>
        <p:txBody>
          <a:bodyPr vert="horz" lIns="91440" tIns="45720" rIns="91440" bIns="45720" rtlCol="0" anchor="t">
            <a:normAutofit/>
          </a:bodyPr>
          <a:lstStyle/>
          <a:p>
            <a:r>
              <a:rPr lang="en-GB" dirty="0"/>
              <a:t>We will covered some Array Theory and then look at Lists in Python</a:t>
            </a:r>
          </a:p>
        </p:txBody>
      </p:sp>
    </p:spTree>
    <p:extLst>
      <p:ext uri="{BB962C8B-B14F-4D97-AF65-F5344CB8AC3E}">
        <p14:creationId xmlns:p14="http://schemas.microsoft.com/office/powerpoint/2010/main" val="2802500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C311-8835-8FE0-640E-339B5CFC22CA}"/>
              </a:ext>
            </a:extLst>
          </p:cNvPr>
          <p:cNvSpPr>
            <a:spLocks noGrp="1"/>
          </p:cNvSpPr>
          <p:nvPr>
            <p:ph type="title"/>
          </p:nvPr>
        </p:nvSpPr>
        <p:spPr/>
        <p:txBody>
          <a:bodyPr/>
          <a:lstStyle/>
          <a:p>
            <a:r>
              <a:rPr lang="en-GB" dirty="0"/>
              <a:t>Arrays in Concept</a:t>
            </a:r>
          </a:p>
        </p:txBody>
      </p:sp>
      <p:sp>
        <p:nvSpPr>
          <p:cNvPr id="3" name="Content Placeholder 2">
            <a:extLst>
              <a:ext uri="{FF2B5EF4-FFF2-40B4-BE49-F238E27FC236}">
                <a16:creationId xmlns:a16="http://schemas.microsoft.com/office/drawing/2014/main" id="{12CAEA70-1F45-9FCD-16A7-57C8E8ECF5EF}"/>
              </a:ext>
            </a:extLst>
          </p:cNvPr>
          <p:cNvSpPr>
            <a:spLocks noGrp="1"/>
          </p:cNvSpPr>
          <p:nvPr>
            <p:ph idx="1"/>
          </p:nvPr>
        </p:nvSpPr>
        <p:spPr/>
        <p:txBody>
          <a:bodyPr vert="horz" lIns="91440" tIns="45720" rIns="91440" bIns="45720" rtlCol="0" anchor="t">
            <a:normAutofit/>
          </a:bodyPr>
          <a:lstStyle/>
          <a:p>
            <a:r>
              <a:rPr lang="en-GB"/>
              <a:t>What happens when we store an array of 5 strings in memory?</a:t>
            </a:r>
            <a:endParaRPr lang="en-GB" dirty="0"/>
          </a:p>
          <a:p>
            <a:r>
              <a:rPr lang="en-GB"/>
              <a:t>We can store each of these items sequentially in the memory. </a:t>
            </a:r>
          </a:p>
          <a:p>
            <a:endParaRPr lang="en-GB" dirty="0"/>
          </a:p>
        </p:txBody>
      </p:sp>
      <p:pic>
        <p:nvPicPr>
          <p:cNvPr id="4" name="Picture 3" descr="A black text on a white background&#10;&#10;AI-generated content may be incorrect.">
            <a:extLst>
              <a:ext uri="{FF2B5EF4-FFF2-40B4-BE49-F238E27FC236}">
                <a16:creationId xmlns:a16="http://schemas.microsoft.com/office/drawing/2014/main" id="{7B3248C7-D2E3-D288-1680-6DFB98EB89A5}"/>
              </a:ext>
            </a:extLst>
          </p:cNvPr>
          <p:cNvPicPr>
            <a:picLocks noChangeAspect="1"/>
          </p:cNvPicPr>
          <p:nvPr/>
        </p:nvPicPr>
        <p:blipFill>
          <a:blip r:embed="rId2"/>
          <a:stretch>
            <a:fillRect/>
          </a:stretch>
        </p:blipFill>
        <p:spPr>
          <a:xfrm>
            <a:off x="1766259" y="3088350"/>
            <a:ext cx="7629525" cy="676275"/>
          </a:xfrm>
          <a:prstGeom prst="rect">
            <a:avLst/>
          </a:prstGeom>
        </p:spPr>
      </p:pic>
      <p:pic>
        <p:nvPicPr>
          <p:cNvPr id="6" name="Picture 5" descr="A red rectangular object with white text&#10;&#10;AI-generated content may be incorrect.">
            <a:extLst>
              <a:ext uri="{FF2B5EF4-FFF2-40B4-BE49-F238E27FC236}">
                <a16:creationId xmlns:a16="http://schemas.microsoft.com/office/drawing/2014/main" id="{9800BE64-5709-EA60-A5FF-C91B31458E91}"/>
              </a:ext>
            </a:extLst>
          </p:cNvPr>
          <p:cNvPicPr>
            <a:picLocks noChangeAspect="1"/>
          </p:cNvPicPr>
          <p:nvPr/>
        </p:nvPicPr>
        <p:blipFill>
          <a:blip r:embed="rId3"/>
          <a:stretch>
            <a:fillRect/>
          </a:stretch>
        </p:blipFill>
        <p:spPr>
          <a:xfrm>
            <a:off x="837531" y="3917399"/>
            <a:ext cx="9010650" cy="2247900"/>
          </a:xfrm>
          <a:prstGeom prst="rect">
            <a:avLst/>
          </a:prstGeom>
        </p:spPr>
      </p:pic>
      <p:sp>
        <p:nvSpPr>
          <p:cNvPr id="8" name="TextBox 7">
            <a:extLst>
              <a:ext uri="{FF2B5EF4-FFF2-40B4-BE49-F238E27FC236}">
                <a16:creationId xmlns:a16="http://schemas.microsoft.com/office/drawing/2014/main" id="{1101277C-6327-9C8E-34B7-8AD08E52113D}"/>
              </a:ext>
            </a:extLst>
          </p:cNvPr>
          <p:cNvSpPr txBox="1"/>
          <p:nvPr/>
        </p:nvSpPr>
        <p:spPr>
          <a:xfrm>
            <a:off x="9851049" y="5040658"/>
            <a:ext cx="25369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Image Source – Ed Lessons Week 6</a:t>
            </a:r>
          </a:p>
        </p:txBody>
      </p:sp>
    </p:spTree>
    <p:extLst>
      <p:ext uri="{BB962C8B-B14F-4D97-AF65-F5344CB8AC3E}">
        <p14:creationId xmlns:p14="http://schemas.microsoft.com/office/powerpoint/2010/main" val="110859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19D4-A462-64BB-B220-45240C07ABBF}"/>
              </a:ext>
            </a:extLst>
          </p:cNvPr>
          <p:cNvSpPr>
            <a:spLocks noGrp="1"/>
          </p:cNvSpPr>
          <p:nvPr>
            <p:ph type="title"/>
          </p:nvPr>
        </p:nvSpPr>
        <p:spPr/>
        <p:txBody>
          <a:bodyPr/>
          <a:lstStyle/>
          <a:p>
            <a:r>
              <a:rPr lang="en-GB" dirty="0"/>
              <a:t>Arrays in Concept</a:t>
            </a:r>
          </a:p>
        </p:txBody>
      </p:sp>
      <p:sp>
        <p:nvSpPr>
          <p:cNvPr id="3" name="Content Placeholder 2">
            <a:extLst>
              <a:ext uri="{FF2B5EF4-FFF2-40B4-BE49-F238E27FC236}">
                <a16:creationId xmlns:a16="http://schemas.microsoft.com/office/drawing/2014/main" id="{9F5465B3-C02D-C044-8F4B-62BD366A8895}"/>
              </a:ext>
            </a:extLst>
          </p:cNvPr>
          <p:cNvSpPr>
            <a:spLocks noGrp="1"/>
          </p:cNvSpPr>
          <p:nvPr>
            <p:ph idx="1"/>
          </p:nvPr>
        </p:nvSpPr>
        <p:spPr/>
        <p:txBody>
          <a:bodyPr vert="horz" lIns="91440" tIns="45720" rIns="91440" bIns="45720" rtlCol="0" anchor="t">
            <a:normAutofit/>
          </a:bodyPr>
          <a:lstStyle/>
          <a:p>
            <a:r>
              <a:rPr lang="en-GB" dirty="0"/>
              <a:t>What are the limitations with this? Can anyone figure it out?</a:t>
            </a:r>
          </a:p>
          <a:p>
            <a:endParaRPr lang="en-GB" dirty="0"/>
          </a:p>
          <a:p>
            <a:r>
              <a:rPr lang="en-GB"/>
              <a:t>Keep in mind traditionally arrays have a fixed size. (Python Lists are dynamic, we will explain this later)</a:t>
            </a:r>
          </a:p>
          <a:p>
            <a:endParaRPr lang="en-GB" dirty="0"/>
          </a:p>
          <a:p>
            <a:r>
              <a:rPr lang="en-GB" dirty="0"/>
              <a:t>We have a fixed size taken up in the memory.</a:t>
            </a:r>
          </a:p>
          <a:p>
            <a:endParaRPr lang="en-GB" dirty="0"/>
          </a:p>
          <a:p>
            <a:endParaRPr lang="en-GB" dirty="0"/>
          </a:p>
        </p:txBody>
      </p:sp>
    </p:spTree>
    <p:extLst>
      <p:ext uri="{BB962C8B-B14F-4D97-AF65-F5344CB8AC3E}">
        <p14:creationId xmlns:p14="http://schemas.microsoft.com/office/powerpoint/2010/main" val="33747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4EC9-1640-8E48-687C-4C2AB106C2C8}"/>
              </a:ext>
            </a:extLst>
          </p:cNvPr>
          <p:cNvSpPr>
            <a:spLocks noGrp="1"/>
          </p:cNvSpPr>
          <p:nvPr>
            <p:ph type="title"/>
          </p:nvPr>
        </p:nvSpPr>
        <p:spPr/>
        <p:txBody>
          <a:bodyPr/>
          <a:lstStyle/>
          <a:p>
            <a:r>
              <a:rPr lang="en-GB" dirty="0"/>
              <a:t>Arrays in Concept – Static vs Dynamic</a:t>
            </a:r>
          </a:p>
        </p:txBody>
      </p:sp>
      <p:sp>
        <p:nvSpPr>
          <p:cNvPr id="3" name="Content Placeholder 2">
            <a:extLst>
              <a:ext uri="{FF2B5EF4-FFF2-40B4-BE49-F238E27FC236}">
                <a16:creationId xmlns:a16="http://schemas.microsoft.com/office/drawing/2014/main" id="{41D9C9C0-1A28-4B19-E098-3F969050E34B}"/>
              </a:ext>
            </a:extLst>
          </p:cNvPr>
          <p:cNvSpPr>
            <a:spLocks noGrp="1"/>
          </p:cNvSpPr>
          <p:nvPr>
            <p:ph idx="1"/>
          </p:nvPr>
        </p:nvSpPr>
        <p:spPr/>
        <p:txBody>
          <a:bodyPr vert="horz" lIns="91440" tIns="45720" rIns="91440" bIns="45720" rtlCol="0" anchor="t">
            <a:normAutofit/>
          </a:bodyPr>
          <a:lstStyle/>
          <a:p>
            <a:r>
              <a:rPr lang="en-GB" dirty="0"/>
              <a:t>A static array takes up a fixed amount of memory space,  it's allocated continuous space for multiple variables of a given type.</a:t>
            </a:r>
          </a:p>
          <a:p>
            <a:endParaRPr lang="en-GB" dirty="0"/>
          </a:p>
          <a:p>
            <a:endParaRPr lang="en-GB" dirty="0"/>
          </a:p>
        </p:txBody>
      </p:sp>
      <p:pic>
        <p:nvPicPr>
          <p:cNvPr id="6" name="Picture 5" descr="A number on a white background&#10;&#10;AI-generated content may be incorrect.">
            <a:extLst>
              <a:ext uri="{FF2B5EF4-FFF2-40B4-BE49-F238E27FC236}">
                <a16:creationId xmlns:a16="http://schemas.microsoft.com/office/drawing/2014/main" id="{33B080B8-8714-B9A7-7B23-F5FFAED63986}"/>
              </a:ext>
            </a:extLst>
          </p:cNvPr>
          <p:cNvPicPr>
            <a:picLocks noChangeAspect="1"/>
          </p:cNvPicPr>
          <p:nvPr/>
        </p:nvPicPr>
        <p:blipFill>
          <a:blip r:embed="rId2"/>
          <a:stretch>
            <a:fillRect/>
          </a:stretch>
        </p:blipFill>
        <p:spPr>
          <a:xfrm>
            <a:off x="1128346" y="2851272"/>
            <a:ext cx="9067800" cy="1952625"/>
          </a:xfrm>
          <a:prstGeom prst="rect">
            <a:avLst/>
          </a:prstGeom>
        </p:spPr>
      </p:pic>
      <p:sp>
        <p:nvSpPr>
          <p:cNvPr id="7" name="TextBox 6">
            <a:extLst>
              <a:ext uri="{FF2B5EF4-FFF2-40B4-BE49-F238E27FC236}">
                <a16:creationId xmlns:a16="http://schemas.microsoft.com/office/drawing/2014/main" id="{A6A8D92C-2D78-1395-01A7-8C65D31FF139}"/>
              </a:ext>
            </a:extLst>
          </p:cNvPr>
          <p:cNvSpPr txBox="1"/>
          <p:nvPr/>
        </p:nvSpPr>
        <p:spPr>
          <a:xfrm>
            <a:off x="5664290" y="5171544"/>
            <a:ext cx="567877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Image Source - </a:t>
            </a:r>
            <a:r>
              <a:rPr lang="en-GB" dirty="0">
                <a:ea typeface="+mn-lt"/>
                <a:cs typeface="+mn-lt"/>
                <a:hlinkClick r:id="rId3"/>
              </a:rPr>
              <a:t>https://www.geeksforgeeks.org/dsa/how-do-dynamic-arrays-work/</a:t>
            </a:r>
            <a:r>
              <a:rPr lang="en-GB" dirty="0">
                <a:ea typeface="+mn-lt"/>
                <a:cs typeface="+mn-lt"/>
              </a:rPr>
              <a:t> </a:t>
            </a:r>
            <a:endParaRPr lang="en-GB" dirty="0"/>
          </a:p>
        </p:txBody>
      </p:sp>
    </p:spTree>
    <p:extLst>
      <p:ext uri="{BB962C8B-B14F-4D97-AF65-F5344CB8AC3E}">
        <p14:creationId xmlns:p14="http://schemas.microsoft.com/office/powerpoint/2010/main" val="3088290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F57D-DE54-9B57-0329-49B9FBE6081C}"/>
              </a:ext>
            </a:extLst>
          </p:cNvPr>
          <p:cNvSpPr>
            <a:spLocks noGrp="1"/>
          </p:cNvSpPr>
          <p:nvPr>
            <p:ph type="title"/>
          </p:nvPr>
        </p:nvSpPr>
        <p:spPr/>
        <p:txBody>
          <a:bodyPr/>
          <a:lstStyle/>
          <a:p>
            <a:r>
              <a:rPr lang="en-GB" dirty="0"/>
              <a:t>Arrays in Concept – Static vs Dynamic</a:t>
            </a:r>
          </a:p>
        </p:txBody>
      </p:sp>
      <p:sp>
        <p:nvSpPr>
          <p:cNvPr id="3" name="Content Placeholder 2">
            <a:extLst>
              <a:ext uri="{FF2B5EF4-FFF2-40B4-BE49-F238E27FC236}">
                <a16:creationId xmlns:a16="http://schemas.microsoft.com/office/drawing/2014/main" id="{9DEB58A5-52D9-ADD4-256F-0EB0144EE960}"/>
              </a:ext>
            </a:extLst>
          </p:cNvPr>
          <p:cNvSpPr>
            <a:spLocks noGrp="1"/>
          </p:cNvSpPr>
          <p:nvPr>
            <p:ph idx="1"/>
          </p:nvPr>
        </p:nvSpPr>
        <p:spPr/>
        <p:txBody>
          <a:bodyPr vert="horz" lIns="91440" tIns="45720" rIns="91440" bIns="45720" rtlCol="0" anchor="t">
            <a:normAutofit/>
          </a:bodyPr>
          <a:lstStyle/>
          <a:p>
            <a:r>
              <a:rPr lang="en-GB" dirty="0"/>
              <a:t>A dynamic array will automatically copy the array to a new larger one and update as needed.</a:t>
            </a:r>
          </a:p>
          <a:p>
            <a:endParaRPr lang="en-GB" dirty="0"/>
          </a:p>
        </p:txBody>
      </p:sp>
      <p:pic>
        <p:nvPicPr>
          <p:cNvPr id="5" name="Picture 4" descr="A diagram of a number&#10;&#10;AI-generated content may be incorrect.">
            <a:extLst>
              <a:ext uri="{FF2B5EF4-FFF2-40B4-BE49-F238E27FC236}">
                <a16:creationId xmlns:a16="http://schemas.microsoft.com/office/drawing/2014/main" id="{782D7B12-472F-E04F-91C8-1C3F4F5141D6}"/>
              </a:ext>
            </a:extLst>
          </p:cNvPr>
          <p:cNvPicPr>
            <a:picLocks noChangeAspect="1"/>
          </p:cNvPicPr>
          <p:nvPr/>
        </p:nvPicPr>
        <p:blipFill>
          <a:blip r:embed="rId2"/>
          <a:stretch>
            <a:fillRect/>
          </a:stretch>
        </p:blipFill>
        <p:spPr>
          <a:xfrm>
            <a:off x="1857214" y="2666177"/>
            <a:ext cx="7689740" cy="3785813"/>
          </a:xfrm>
          <a:prstGeom prst="rect">
            <a:avLst/>
          </a:prstGeom>
        </p:spPr>
      </p:pic>
      <p:sp>
        <p:nvSpPr>
          <p:cNvPr id="8" name="TextBox 7">
            <a:extLst>
              <a:ext uri="{FF2B5EF4-FFF2-40B4-BE49-F238E27FC236}">
                <a16:creationId xmlns:a16="http://schemas.microsoft.com/office/drawing/2014/main" id="{FC215C97-686C-9EE0-DB4C-4982FA18A3AB}"/>
              </a:ext>
            </a:extLst>
          </p:cNvPr>
          <p:cNvSpPr txBox="1"/>
          <p:nvPr/>
        </p:nvSpPr>
        <p:spPr>
          <a:xfrm>
            <a:off x="9544627" y="4561944"/>
            <a:ext cx="264249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Image Source - </a:t>
            </a:r>
            <a:r>
              <a:rPr lang="en-GB" dirty="0">
                <a:ea typeface="+mn-lt"/>
                <a:cs typeface="+mn-lt"/>
                <a:hlinkClick r:id="rId3"/>
              </a:rPr>
              <a:t>https://www.geeksforgeeks.org/dsa/how-do-dynamic-arrays-work/</a:t>
            </a:r>
            <a:r>
              <a:rPr lang="en-GB" dirty="0">
                <a:ea typeface="+mn-lt"/>
                <a:cs typeface="+mn-lt"/>
              </a:rPr>
              <a:t> </a:t>
            </a:r>
            <a:endParaRPr lang="en-GB" dirty="0"/>
          </a:p>
        </p:txBody>
      </p:sp>
    </p:spTree>
    <p:extLst>
      <p:ext uri="{BB962C8B-B14F-4D97-AF65-F5344CB8AC3E}">
        <p14:creationId xmlns:p14="http://schemas.microsoft.com/office/powerpoint/2010/main" val="2276139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A425-DD2C-A27C-E3B6-E43DC42F0810}"/>
              </a:ext>
            </a:extLst>
          </p:cNvPr>
          <p:cNvSpPr>
            <a:spLocks noGrp="1"/>
          </p:cNvSpPr>
          <p:nvPr>
            <p:ph type="title"/>
          </p:nvPr>
        </p:nvSpPr>
        <p:spPr/>
        <p:txBody>
          <a:bodyPr/>
          <a:lstStyle/>
          <a:p>
            <a:r>
              <a:rPr lang="en-GB" dirty="0"/>
              <a:t>Arrays in Concept - Dangers</a:t>
            </a:r>
          </a:p>
        </p:txBody>
      </p:sp>
      <p:sp>
        <p:nvSpPr>
          <p:cNvPr id="3" name="Content Placeholder 2">
            <a:extLst>
              <a:ext uri="{FF2B5EF4-FFF2-40B4-BE49-F238E27FC236}">
                <a16:creationId xmlns:a16="http://schemas.microsoft.com/office/drawing/2014/main" id="{6BDA5AE5-12B4-7C91-9FCC-AD5B4397EE69}"/>
              </a:ext>
            </a:extLst>
          </p:cNvPr>
          <p:cNvSpPr>
            <a:spLocks noGrp="1"/>
          </p:cNvSpPr>
          <p:nvPr>
            <p:ph idx="1"/>
          </p:nvPr>
        </p:nvSpPr>
        <p:spPr/>
        <p:txBody>
          <a:bodyPr vert="horz" lIns="91440" tIns="45720" rIns="91440" bIns="45720" rtlCol="0" anchor="t">
            <a:normAutofit/>
          </a:bodyPr>
          <a:lstStyle/>
          <a:p>
            <a:r>
              <a:rPr lang="en-GB" dirty="0"/>
              <a:t>When we access an array it's possible to go out of bounds. When we do this, it can cause our program to crash, or even worse access data from memory elsewhere and cause unexpected behaviour.</a:t>
            </a:r>
          </a:p>
          <a:p>
            <a:endParaRPr lang="en-GB" dirty="0"/>
          </a:p>
          <a:p>
            <a:endParaRPr lang="en-GB" dirty="0"/>
          </a:p>
        </p:txBody>
      </p:sp>
      <p:pic>
        <p:nvPicPr>
          <p:cNvPr id="5" name="Picture 4" descr="A black text on a white background&#10;&#10;AI-generated content may be incorrect.">
            <a:extLst>
              <a:ext uri="{FF2B5EF4-FFF2-40B4-BE49-F238E27FC236}">
                <a16:creationId xmlns:a16="http://schemas.microsoft.com/office/drawing/2014/main" id="{3185422B-3432-3F52-3D18-D3A9B12ACA7B}"/>
              </a:ext>
            </a:extLst>
          </p:cNvPr>
          <p:cNvPicPr>
            <a:picLocks noChangeAspect="1"/>
          </p:cNvPicPr>
          <p:nvPr/>
        </p:nvPicPr>
        <p:blipFill>
          <a:blip r:embed="rId2"/>
          <a:stretch>
            <a:fillRect/>
          </a:stretch>
        </p:blipFill>
        <p:spPr>
          <a:xfrm>
            <a:off x="1840706" y="3674268"/>
            <a:ext cx="7629525" cy="676275"/>
          </a:xfrm>
          <a:prstGeom prst="rect">
            <a:avLst/>
          </a:prstGeom>
        </p:spPr>
      </p:pic>
    </p:spTree>
    <p:extLst>
      <p:ext uri="{BB962C8B-B14F-4D97-AF65-F5344CB8AC3E}">
        <p14:creationId xmlns:p14="http://schemas.microsoft.com/office/powerpoint/2010/main" val="3491032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6CBE-8ED6-797F-2F46-496AA991CB49}"/>
              </a:ext>
            </a:extLst>
          </p:cNvPr>
          <p:cNvSpPr>
            <a:spLocks noGrp="1"/>
          </p:cNvSpPr>
          <p:nvPr>
            <p:ph type="title"/>
          </p:nvPr>
        </p:nvSpPr>
        <p:spPr/>
        <p:txBody>
          <a:bodyPr/>
          <a:lstStyle/>
          <a:p>
            <a:r>
              <a:rPr lang="en-GB" dirty="0"/>
              <a:t>Arrays in Concept - Dangers</a:t>
            </a:r>
          </a:p>
        </p:txBody>
      </p:sp>
      <p:pic>
        <p:nvPicPr>
          <p:cNvPr id="6" name="Content Placeholder 5" descr="A number on a white background&#10;&#10;AI-generated content may be incorrect.">
            <a:extLst>
              <a:ext uri="{FF2B5EF4-FFF2-40B4-BE49-F238E27FC236}">
                <a16:creationId xmlns:a16="http://schemas.microsoft.com/office/drawing/2014/main" id="{6D07C67F-197F-AA5D-31F2-442434C0AE93}"/>
              </a:ext>
            </a:extLst>
          </p:cNvPr>
          <p:cNvPicPr>
            <a:picLocks noGrp="1" noChangeAspect="1"/>
          </p:cNvPicPr>
          <p:nvPr>
            <p:ph idx="1"/>
          </p:nvPr>
        </p:nvPicPr>
        <p:blipFill>
          <a:blip r:embed="rId2"/>
          <a:stretch>
            <a:fillRect/>
          </a:stretch>
        </p:blipFill>
        <p:spPr>
          <a:xfrm>
            <a:off x="1327638" y="3025164"/>
            <a:ext cx="9067800" cy="1952625"/>
          </a:xfrm>
          <a:prstGeom prst="rect">
            <a:avLst/>
          </a:prstGeom>
        </p:spPr>
      </p:pic>
      <p:sp>
        <p:nvSpPr>
          <p:cNvPr id="11" name="Content Placeholder 2">
            <a:extLst>
              <a:ext uri="{FF2B5EF4-FFF2-40B4-BE49-F238E27FC236}">
                <a16:creationId xmlns:a16="http://schemas.microsoft.com/office/drawing/2014/main" id="{06BB216F-0F72-4070-52C1-D03F6AC04109}"/>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Accessing this memory address in C could return an unrelated value!</a:t>
            </a:r>
          </a:p>
          <a:p>
            <a:endParaRPr lang="en-GB" dirty="0"/>
          </a:p>
          <a:p>
            <a:endParaRPr lang="en-GB" dirty="0"/>
          </a:p>
        </p:txBody>
      </p:sp>
      <p:sp>
        <p:nvSpPr>
          <p:cNvPr id="13" name="TextBox 12">
            <a:extLst>
              <a:ext uri="{FF2B5EF4-FFF2-40B4-BE49-F238E27FC236}">
                <a16:creationId xmlns:a16="http://schemas.microsoft.com/office/drawing/2014/main" id="{B6234AEE-0C75-E6AD-F08E-A5A1193221C3}"/>
              </a:ext>
            </a:extLst>
          </p:cNvPr>
          <p:cNvSpPr txBox="1"/>
          <p:nvPr/>
        </p:nvSpPr>
        <p:spPr>
          <a:xfrm>
            <a:off x="5863582" y="5101206"/>
            <a:ext cx="567877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Image Source - </a:t>
            </a:r>
            <a:r>
              <a:rPr lang="en-GB" dirty="0">
                <a:ea typeface="+mn-lt"/>
                <a:cs typeface="+mn-lt"/>
                <a:hlinkClick r:id="rId3"/>
              </a:rPr>
              <a:t>https://www.geeksforgeeks.org/dsa/how-do-dynamic-arrays-work/</a:t>
            </a:r>
            <a:r>
              <a:rPr lang="en-GB" dirty="0">
                <a:ea typeface="+mn-lt"/>
                <a:cs typeface="+mn-lt"/>
              </a:rPr>
              <a:t> </a:t>
            </a:r>
            <a:endParaRPr lang="en-GB" dirty="0"/>
          </a:p>
        </p:txBody>
      </p:sp>
    </p:spTree>
    <p:extLst>
      <p:ext uri="{BB962C8B-B14F-4D97-AF65-F5344CB8AC3E}">
        <p14:creationId xmlns:p14="http://schemas.microsoft.com/office/powerpoint/2010/main" val="616821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B5F5-0FDD-4772-3D35-95DF9EFE7A31}"/>
              </a:ext>
            </a:extLst>
          </p:cNvPr>
          <p:cNvSpPr>
            <a:spLocks noGrp="1"/>
          </p:cNvSpPr>
          <p:nvPr>
            <p:ph type="title"/>
          </p:nvPr>
        </p:nvSpPr>
        <p:spPr/>
        <p:txBody>
          <a:bodyPr/>
          <a:lstStyle/>
          <a:p>
            <a:r>
              <a:rPr lang="en-GB" dirty="0"/>
              <a:t>Arrays in Concept – 2D Arrays</a:t>
            </a:r>
          </a:p>
        </p:txBody>
      </p:sp>
      <p:sp>
        <p:nvSpPr>
          <p:cNvPr id="3" name="Content Placeholder 2">
            <a:extLst>
              <a:ext uri="{FF2B5EF4-FFF2-40B4-BE49-F238E27FC236}">
                <a16:creationId xmlns:a16="http://schemas.microsoft.com/office/drawing/2014/main" id="{CFE74046-3E10-D9B5-6CF7-2C3324961D77}"/>
              </a:ext>
            </a:extLst>
          </p:cNvPr>
          <p:cNvSpPr>
            <a:spLocks noGrp="1"/>
          </p:cNvSpPr>
          <p:nvPr>
            <p:ph idx="1"/>
          </p:nvPr>
        </p:nvSpPr>
        <p:spPr/>
        <p:txBody>
          <a:bodyPr vert="horz" lIns="91440" tIns="45720" rIns="91440" bIns="45720" rtlCol="0" anchor="t">
            <a:normAutofit/>
          </a:bodyPr>
          <a:lstStyle/>
          <a:p>
            <a:r>
              <a:rPr lang="en-GB" dirty="0"/>
              <a:t>What do you imagine when you think of 2D arrays? </a:t>
            </a:r>
          </a:p>
          <a:p>
            <a:endParaRPr lang="en-GB" dirty="0"/>
          </a:p>
          <a:p>
            <a:r>
              <a:rPr lang="en-GB" dirty="0"/>
              <a:t>We can have an array of arrays to create a 2D array. </a:t>
            </a:r>
          </a:p>
          <a:p>
            <a:endParaRPr lang="en-GB" dirty="0"/>
          </a:p>
          <a:p>
            <a:r>
              <a:rPr lang="en-GB" dirty="0"/>
              <a:t>What might this be useful for?</a:t>
            </a:r>
          </a:p>
        </p:txBody>
      </p:sp>
    </p:spTree>
    <p:extLst>
      <p:ext uri="{BB962C8B-B14F-4D97-AF65-F5344CB8AC3E}">
        <p14:creationId xmlns:p14="http://schemas.microsoft.com/office/powerpoint/2010/main" val="3509082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FD96D-39D8-3A47-AC1D-5162C186D315}"/>
              </a:ext>
            </a:extLst>
          </p:cNvPr>
          <p:cNvSpPr>
            <a:spLocks noGrp="1"/>
          </p:cNvSpPr>
          <p:nvPr>
            <p:ph type="title"/>
          </p:nvPr>
        </p:nvSpPr>
        <p:spPr/>
        <p:txBody>
          <a:bodyPr/>
          <a:lstStyle/>
          <a:p>
            <a:r>
              <a:rPr lang="en-GB" dirty="0"/>
              <a:t>Arrays in Concept – 2D Arrays</a:t>
            </a:r>
          </a:p>
        </p:txBody>
      </p:sp>
      <p:pic>
        <p:nvPicPr>
          <p:cNvPr id="4" name="Content Placeholder 3" descr="A grid of numbers and symbols&#10;&#10;AI-generated content may be incorrect.">
            <a:extLst>
              <a:ext uri="{FF2B5EF4-FFF2-40B4-BE49-F238E27FC236}">
                <a16:creationId xmlns:a16="http://schemas.microsoft.com/office/drawing/2014/main" id="{E99A1139-19EA-9ADD-CEEC-35E406BE4095}"/>
              </a:ext>
            </a:extLst>
          </p:cNvPr>
          <p:cNvPicPr>
            <a:picLocks noGrp="1" noChangeAspect="1"/>
          </p:cNvPicPr>
          <p:nvPr>
            <p:ph idx="1"/>
          </p:nvPr>
        </p:nvPicPr>
        <p:blipFill>
          <a:blip r:embed="rId2"/>
          <a:stretch>
            <a:fillRect/>
          </a:stretch>
        </p:blipFill>
        <p:spPr>
          <a:xfrm>
            <a:off x="3083535" y="1825625"/>
            <a:ext cx="6024930" cy="4351338"/>
          </a:xfrm>
          <a:prstGeom prst="rect">
            <a:avLst/>
          </a:prstGeom>
        </p:spPr>
      </p:pic>
      <p:sp>
        <p:nvSpPr>
          <p:cNvPr id="5" name="TextBox 4">
            <a:extLst>
              <a:ext uri="{FF2B5EF4-FFF2-40B4-BE49-F238E27FC236}">
                <a16:creationId xmlns:a16="http://schemas.microsoft.com/office/drawing/2014/main" id="{3C2BF122-7A93-DB91-5F6B-8A4B09073FC4}"/>
              </a:ext>
            </a:extLst>
          </p:cNvPr>
          <p:cNvSpPr txBox="1"/>
          <p:nvPr/>
        </p:nvSpPr>
        <p:spPr>
          <a:xfrm>
            <a:off x="9464705" y="5393384"/>
            <a:ext cx="25369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Image Source – Ed Lessons Week 6</a:t>
            </a:r>
          </a:p>
        </p:txBody>
      </p:sp>
    </p:spTree>
    <p:extLst>
      <p:ext uri="{BB962C8B-B14F-4D97-AF65-F5344CB8AC3E}">
        <p14:creationId xmlns:p14="http://schemas.microsoft.com/office/powerpoint/2010/main" val="3854425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062AD-1170-B4A4-9CB9-F1A11BE19041}"/>
              </a:ext>
            </a:extLst>
          </p:cNvPr>
          <p:cNvSpPr>
            <a:spLocks noGrp="1"/>
          </p:cNvSpPr>
          <p:nvPr>
            <p:ph type="title"/>
          </p:nvPr>
        </p:nvSpPr>
        <p:spPr/>
        <p:txBody>
          <a:bodyPr/>
          <a:lstStyle/>
          <a:p>
            <a:r>
              <a:rPr lang="en-GB" dirty="0"/>
              <a:t>Arrays in Concept – 2D Arrays</a:t>
            </a:r>
          </a:p>
        </p:txBody>
      </p:sp>
      <p:pic>
        <p:nvPicPr>
          <p:cNvPr id="4" name="Content Placeholder 3" descr="A crossword puzzle with a grid and a map&#10;&#10;AI-generated content may be incorrect.">
            <a:extLst>
              <a:ext uri="{FF2B5EF4-FFF2-40B4-BE49-F238E27FC236}">
                <a16:creationId xmlns:a16="http://schemas.microsoft.com/office/drawing/2014/main" id="{66AEAF37-860F-4B95-C9A2-61F2333F5F19}"/>
              </a:ext>
            </a:extLst>
          </p:cNvPr>
          <p:cNvPicPr>
            <a:picLocks noGrp="1" noChangeAspect="1"/>
          </p:cNvPicPr>
          <p:nvPr>
            <p:ph idx="1"/>
          </p:nvPr>
        </p:nvPicPr>
        <p:blipFill>
          <a:blip r:embed="rId2"/>
          <a:stretch>
            <a:fillRect/>
          </a:stretch>
        </p:blipFill>
        <p:spPr>
          <a:xfrm>
            <a:off x="2398686" y="2221249"/>
            <a:ext cx="5586493" cy="4270428"/>
          </a:xfrm>
          <a:prstGeom prst="rect">
            <a:avLst/>
          </a:prstGeom>
        </p:spPr>
      </p:pic>
      <p:sp>
        <p:nvSpPr>
          <p:cNvPr id="5" name="TextBox 4">
            <a:extLst>
              <a:ext uri="{FF2B5EF4-FFF2-40B4-BE49-F238E27FC236}">
                <a16:creationId xmlns:a16="http://schemas.microsoft.com/office/drawing/2014/main" id="{22B629A1-911A-9D2F-B7F5-23B8A4B31837}"/>
              </a:ext>
            </a:extLst>
          </p:cNvPr>
          <p:cNvSpPr txBox="1"/>
          <p:nvPr/>
        </p:nvSpPr>
        <p:spPr>
          <a:xfrm>
            <a:off x="8496442" y="4208916"/>
            <a:ext cx="340782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Image Source - Neves, António &amp; Barbosa, Bruno &amp; Soares, Sandra &amp; Dimas, Isabel. (2018). Analysis of Emotions From Body Postures Based on Digital Imaging. </a:t>
            </a:r>
            <a:endParaRPr lang="en-US" dirty="0"/>
          </a:p>
        </p:txBody>
      </p:sp>
    </p:spTree>
    <p:extLst>
      <p:ext uri="{BB962C8B-B14F-4D97-AF65-F5344CB8AC3E}">
        <p14:creationId xmlns:p14="http://schemas.microsoft.com/office/powerpoint/2010/main" val="329404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283-239C-E982-80F4-B021115E22DF}"/>
              </a:ext>
            </a:extLst>
          </p:cNvPr>
          <p:cNvSpPr>
            <a:spLocks noGrp="1"/>
          </p:cNvSpPr>
          <p:nvPr>
            <p:ph type="title"/>
          </p:nvPr>
        </p:nvSpPr>
        <p:spPr/>
        <p:txBody>
          <a:bodyPr/>
          <a:lstStyle/>
          <a:p>
            <a:r>
              <a:rPr lang="en-GB"/>
              <a:t>Python Lists</a:t>
            </a:r>
          </a:p>
        </p:txBody>
      </p:sp>
      <p:sp>
        <p:nvSpPr>
          <p:cNvPr id="3" name="Content Placeholder 2">
            <a:extLst>
              <a:ext uri="{FF2B5EF4-FFF2-40B4-BE49-F238E27FC236}">
                <a16:creationId xmlns:a16="http://schemas.microsoft.com/office/drawing/2014/main" id="{A0FACCD9-4B20-F0FA-898D-BE8055B526F0}"/>
              </a:ext>
            </a:extLst>
          </p:cNvPr>
          <p:cNvSpPr>
            <a:spLocks noGrp="1"/>
          </p:cNvSpPr>
          <p:nvPr>
            <p:ph idx="1"/>
          </p:nvPr>
        </p:nvSpPr>
        <p:spPr/>
        <p:txBody>
          <a:bodyPr vert="horz" lIns="91440" tIns="45720" rIns="91440" bIns="45720" rtlCol="0" anchor="t">
            <a:normAutofit/>
          </a:bodyPr>
          <a:lstStyle/>
          <a:p>
            <a:r>
              <a:rPr lang="en-GB" dirty="0"/>
              <a:t>Lets look at some of the features in Python Lists</a:t>
            </a:r>
          </a:p>
          <a:p>
            <a:endParaRPr lang="en-GB" dirty="0"/>
          </a:p>
          <a:p>
            <a:r>
              <a:rPr lang="en-GB"/>
              <a:t>Lists in Python are dynamic and automatically handled by the </a:t>
            </a:r>
            <a:r>
              <a:rPr lang="en-GB">
                <a:ea typeface="+mn-lt"/>
                <a:cs typeface="+mn-lt"/>
              </a:rPr>
              <a:t>Python Memory Manager</a:t>
            </a:r>
          </a:p>
          <a:p>
            <a:endParaRPr lang="en-GB" dirty="0"/>
          </a:p>
          <a:p>
            <a:r>
              <a:rPr lang="en-GB"/>
              <a:t>Keep in mind in other programming languages arrays you might need to manage the memory allocation of arrays yourself.</a:t>
            </a:r>
            <a:endParaRPr lang="en-GB" dirty="0"/>
          </a:p>
        </p:txBody>
      </p:sp>
    </p:spTree>
    <p:extLst>
      <p:ext uri="{BB962C8B-B14F-4D97-AF65-F5344CB8AC3E}">
        <p14:creationId xmlns:p14="http://schemas.microsoft.com/office/powerpoint/2010/main" val="598576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D744F-5EE8-4FE1-C89E-7C69755300F5}"/>
              </a:ext>
            </a:extLst>
          </p:cNvPr>
          <p:cNvSpPr>
            <a:spLocks noGrp="1"/>
          </p:cNvSpPr>
          <p:nvPr>
            <p:ph type="title"/>
          </p:nvPr>
        </p:nvSpPr>
        <p:spPr/>
        <p:txBody>
          <a:bodyPr/>
          <a:lstStyle/>
          <a:p>
            <a:r>
              <a:rPr lang="en-GB" dirty="0"/>
              <a:t>Lists are ordered</a:t>
            </a:r>
          </a:p>
        </p:txBody>
      </p:sp>
      <p:pic>
        <p:nvPicPr>
          <p:cNvPr id="4" name="Content Placeholder 3" descr="A black background with white text&#10;&#10;AI-generated content may be incorrect.">
            <a:extLst>
              <a:ext uri="{FF2B5EF4-FFF2-40B4-BE49-F238E27FC236}">
                <a16:creationId xmlns:a16="http://schemas.microsoft.com/office/drawing/2014/main" id="{8453D37D-7B61-FE19-C047-FF210B318470}"/>
              </a:ext>
            </a:extLst>
          </p:cNvPr>
          <p:cNvPicPr>
            <a:picLocks noGrp="1" noChangeAspect="1"/>
          </p:cNvPicPr>
          <p:nvPr>
            <p:ph idx="1"/>
          </p:nvPr>
        </p:nvPicPr>
        <p:blipFill>
          <a:blip r:embed="rId2"/>
          <a:stretch>
            <a:fillRect/>
          </a:stretch>
        </p:blipFill>
        <p:spPr>
          <a:xfrm>
            <a:off x="2554113" y="3119828"/>
            <a:ext cx="7097093" cy="1119591"/>
          </a:xfrm>
          <a:prstGeom prst="rect">
            <a:avLst/>
          </a:prstGeom>
        </p:spPr>
      </p:pic>
    </p:spTree>
    <p:extLst>
      <p:ext uri="{BB962C8B-B14F-4D97-AF65-F5344CB8AC3E}">
        <p14:creationId xmlns:p14="http://schemas.microsoft.com/office/powerpoint/2010/main" val="3105611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ACB88-D5D5-7DC8-3CB5-5A28A9A80550}"/>
              </a:ext>
            </a:extLst>
          </p:cNvPr>
          <p:cNvSpPr>
            <a:spLocks noGrp="1"/>
          </p:cNvSpPr>
          <p:nvPr>
            <p:ph type="title"/>
          </p:nvPr>
        </p:nvSpPr>
        <p:spPr/>
        <p:txBody>
          <a:bodyPr/>
          <a:lstStyle/>
          <a:p>
            <a:r>
              <a:rPr lang="en-GB" dirty="0"/>
              <a:t>Lists are Mutable (Changeable)</a:t>
            </a:r>
          </a:p>
        </p:txBody>
      </p:sp>
      <p:pic>
        <p:nvPicPr>
          <p:cNvPr id="4" name="Content Placeholder 3" descr="A black screen with white text&#10;&#10;AI-generated content may be incorrect.">
            <a:extLst>
              <a:ext uri="{FF2B5EF4-FFF2-40B4-BE49-F238E27FC236}">
                <a16:creationId xmlns:a16="http://schemas.microsoft.com/office/drawing/2014/main" id="{F5F62FFD-CFC1-55B4-5623-0DEBFF83AB8C}"/>
              </a:ext>
            </a:extLst>
          </p:cNvPr>
          <p:cNvPicPr>
            <a:picLocks noGrp="1" noChangeAspect="1"/>
          </p:cNvPicPr>
          <p:nvPr>
            <p:ph idx="1"/>
          </p:nvPr>
        </p:nvPicPr>
        <p:blipFill>
          <a:blip r:embed="rId2"/>
          <a:stretch>
            <a:fillRect/>
          </a:stretch>
        </p:blipFill>
        <p:spPr>
          <a:xfrm>
            <a:off x="3050381" y="2279650"/>
            <a:ext cx="5662612" cy="1169193"/>
          </a:xfrm>
          <a:prstGeom prst="rect">
            <a:avLst/>
          </a:prstGeom>
        </p:spPr>
      </p:pic>
      <p:pic>
        <p:nvPicPr>
          <p:cNvPr id="5" name="Picture 4">
            <a:extLst>
              <a:ext uri="{FF2B5EF4-FFF2-40B4-BE49-F238E27FC236}">
                <a16:creationId xmlns:a16="http://schemas.microsoft.com/office/drawing/2014/main" id="{3B30CBE0-3B2F-5671-8BCB-F20E4773FE4A}"/>
              </a:ext>
            </a:extLst>
          </p:cNvPr>
          <p:cNvPicPr>
            <a:picLocks noChangeAspect="1"/>
          </p:cNvPicPr>
          <p:nvPr/>
        </p:nvPicPr>
        <p:blipFill>
          <a:blip r:embed="rId3"/>
          <a:stretch>
            <a:fillRect/>
          </a:stretch>
        </p:blipFill>
        <p:spPr>
          <a:xfrm>
            <a:off x="2657475" y="4867275"/>
            <a:ext cx="6877049" cy="540543"/>
          </a:xfrm>
          <a:prstGeom prst="rect">
            <a:avLst/>
          </a:prstGeom>
        </p:spPr>
      </p:pic>
    </p:spTree>
    <p:extLst>
      <p:ext uri="{BB962C8B-B14F-4D97-AF65-F5344CB8AC3E}">
        <p14:creationId xmlns:p14="http://schemas.microsoft.com/office/powerpoint/2010/main" val="2111200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093B5-DC84-50A0-09F3-38C40A4B9D82}"/>
              </a:ext>
            </a:extLst>
          </p:cNvPr>
          <p:cNvSpPr>
            <a:spLocks noGrp="1"/>
          </p:cNvSpPr>
          <p:nvPr>
            <p:ph type="title"/>
          </p:nvPr>
        </p:nvSpPr>
        <p:spPr/>
        <p:txBody>
          <a:bodyPr/>
          <a:lstStyle/>
          <a:p>
            <a:r>
              <a:rPr lang="en-GB" dirty="0"/>
              <a:t>Lists allow duplicates</a:t>
            </a:r>
          </a:p>
        </p:txBody>
      </p:sp>
      <p:pic>
        <p:nvPicPr>
          <p:cNvPr id="4" name="Content Placeholder 3">
            <a:extLst>
              <a:ext uri="{FF2B5EF4-FFF2-40B4-BE49-F238E27FC236}">
                <a16:creationId xmlns:a16="http://schemas.microsoft.com/office/drawing/2014/main" id="{7B4AA680-DD93-1EC0-02AC-2F0DEE9481F6}"/>
              </a:ext>
            </a:extLst>
          </p:cNvPr>
          <p:cNvPicPr>
            <a:picLocks noGrp="1" noChangeAspect="1"/>
          </p:cNvPicPr>
          <p:nvPr>
            <p:ph idx="1"/>
          </p:nvPr>
        </p:nvPicPr>
        <p:blipFill>
          <a:blip r:embed="rId2"/>
          <a:stretch>
            <a:fillRect/>
          </a:stretch>
        </p:blipFill>
        <p:spPr>
          <a:xfrm>
            <a:off x="2140744" y="3565526"/>
            <a:ext cx="8434387" cy="776287"/>
          </a:xfrm>
          <a:prstGeom prst="rect">
            <a:avLst/>
          </a:prstGeom>
        </p:spPr>
      </p:pic>
    </p:spTree>
    <p:extLst>
      <p:ext uri="{BB962C8B-B14F-4D97-AF65-F5344CB8AC3E}">
        <p14:creationId xmlns:p14="http://schemas.microsoft.com/office/powerpoint/2010/main" val="2517614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E260-6276-2387-CFB0-BB70FB6A9B8E}"/>
              </a:ext>
            </a:extLst>
          </p:cNvPr>
          <p:cNvSpPr>
            <a:spLocks noGrp="1"/>
          </p:cNvSpPr>
          <p:nvPr>
            <p:ph type="title"/>
          </p:nvPr>
        </p:nvSpPr>
        <p:spPr/>
        <p:txBody>
          <a:bodyPr/>
          <a:lstStyle/>
          <a:p>
            <a:r>
              <a:rPr lang="en-GB" dirty="0"/>
              <a:t>List Comprehensions</a:t>
            </a:r>
          </a:p>
        </p:txBody>
      </p:sp>
      <p:pic>
        <p:nvPicPr>
          <p:cNvPr id="4" name="Content Placeholder 3" descr="A screen shot of a computer program&#10;&#10;AI-generated content may be incorrect.">
            <a:extLst>
              <a:ext uri="{FF2B5EF4-FFF2-40B4-BE49-F238E27FC236}">
                <a16:creationId xmlns:a16="http://schemas.microsoft.com/office/drawing/2014/main" id="{4E13E912-1017-10B6-9BBF-EC74DB6DDCDA}"/>
              </a:ext>
            </a:extLst>
          </p:cNvPr>
          <p:cNvPicPr>
            <a:picLocks noGrp="1" noChangeAspect="1"/>
          </p:cNvPicPr>
          <p:nvPr>
            <p:ph idx="1"/>
          </p:nvPr>
        </p:nvPicPr>
        <p:blipFill>
          <a:blip r:embed="rId2"/>
          <a:stretch>
            <a:fillRect/>
          </a:stretch>
        </p:blipFill>
        <p:spPr>
          <a:xfrm>
            <a:off x="2431513" y="1825625"/>
            <a:ext cx="7328973" cy="4351338"/>
          </a:xfrm>
          <a:prstGeom prst="rect">
            <a:avLst/>
          </a:prstGeom>
        </p:spPr>
      </p:pic>
    </p:spTree>
    <p:extLst>
      <p:ext uri="{BB962C8B-B14F-4D97-AF65-F5344CB8AC3E}">
        <p14:creationId xmlns:p14="http://schemas.microsoft.com/office/powerpoint/2010/main" val="2091774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42FC5-BAA6-CA1C-9610-90D302F37574}"/>
              </a:ext>
            </a:extLst>
          </p:cNvPr>
          <p:cNvSpPr>
            <a:spLocks noGrp="1"/>
          </p:cNvSpPr>
          <p:nvPr>
            <p:ph type="title"/>
          </p:nvPr>
        </p:nvSpPr>
        <p:spPr/>
        <p:txBody>
          <a:bodyPr/>
          <a:lstStyle/>
          <a:p>
            <a:r>
              <a:rPr lang="en-GB" dirty="0"/>
              <a:t>List Methods</a:t>
            </a:r>
          </a:p>
        </p:txBody>
      </p:sp>
      <p:sp>
        <p:nvSpPr>
          <p:cNvPr id="3" name="Content Placeholder 2">
            <a:extLst>
              <a:ext uri="{FF2B5EF4-FFF2-40B4-BE49-F238E27FC236}">
                <a16:creationId xmlns:a16="http://schemas.microsoft.com/office/drawing/2014/main" id="{DEC23F09-39D1-868B-1EDF-9F4BD2E70942}"/>
              </a:ext>
            </a:extLst>
          </p:cNvPr>
          <p:cNvSpPr>
            <a:spLocks noGrp="1"/>
          </p:cNvSpPr>
          <p:nvPr>
            <p:ph idx="1"/>
          </p:nvPr>
        </p:nvSpPr>
        <p:spPr/>
        <p:txBody>
          <a:bodyPr vert="horz" lIns="91440" tIns="45720" rIns="91440" bIns="45720" rtlCol="0" anchor="t">
            <a:normAutofit/>
          </a:bodyPr>
          <a:lstStyle/>
          <a:p>
            <a:r>
              <a:rPr lang="en-GB" dirty="0">
                <a:ea typeface="+mn-lt"/>
                <a:cs typeface="+mn-lt"/>
                <a:hlinkClick r:id="rId2"/>
              </a:rPr>
              <a:t>https://www.w3schools.com/python/python_lists_methods.asp</a:t>
            </a:r>
            <a:r>
              <a:rPr lang="en-GB" dirty="0">
                <a:ea typeface="+mn-lt"/>
                <a:cs typeface="+mn-lt"/>
              </a:rPr>
              <a:t> </a:t>
            </a:r>
            <a:endParaRPr lang="en-GB"/>
          </a:p>
        </p:txBody>
      </p:sp>
      <p:pic>
        <p:nvPicPr>
          <p:cNvPr id="4" name="Picture 3" descr="A list of items with text&#10;&#10;AI-generated content may be incorrect.">
            <a:extLst>
              <a:ext uri="{FF2B5EF4-FFF2-40B4-BE49-F238E27FC236}">
                <a16:creationId xmlns:a16="http://schemas.microsoft.com/office/drawing/2014/main" id="{1758F4C3-3402-352B-CCF9-224B0CA1F917}"/>
              </a:ext>
            </a:extLst>
          </p:cNvPr>
          <p:cNvPicPr>
            <a:picLocks noChangeAspect="1"/>
          </p:cNvPicPr>
          <p:nvPr/>
        </p:nvPicPr>
        <p:blipFill>
          <a:blip r:embed="rId3"/>
          <a:stretch>
            <a:fillRect/>
          </a:stretch>
        </p:blipFill>
        <p:spPr>
          <a:xfrm>
            <a:off x="2165537" y="2416549"/>
            <a:ext cx="7860927" cy="4232462"/>
          </a:xfrm>
          <a:prstGeom prst="rect">
            <a:avLst/>
          </a:prstGeom>
        </p:spPr>
      </p:pic>
    </p:spTree>
    <p:extLst>
      <p:ext uri="{BB962C8B-B14F-4D97-AF65-F5344CB8AC3E}">
        <p14:creationId xmlns:p14="http://schemas.microsoft.com/office/powerpoint/2010/main" val="1975444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7B911-CE1B-D86C-8310-5BC6C84B018E}"/>
              </a:ext>
            </a:extLst>
          </p:cNvPr>
          <p:cNvSpPr>
            <a:spLocks noGrp="1"/>
          </p:cNvSpPr>
          <p:nvPr>
            <p:ph type="title"/>
          </p:nvPr>
        </p:nvSpPr>
        <p:spPr/>
        <p:txBody>
          <a:bodyPr/>
          <a:lstStyle/>
          <a:p>
            <a:r>
              <a:rPr lang="en-GB" dirty="0"/>
              <a:t>Searching Arrays - Theory</a:t>
            </a:r>
          </a:p>
        </p:txBody>
      </p:sp>
      <p:sp>
        <p:nvSpPr>
          <p:cNvPr id="3" name="Content Placeholder 2">
            <a:extLst>
              <a:ext uri="{FF2B5EF4-FFF2-40B4-BE49-F238E27FC236}">
                <a16:creationId xmlns:a16="http://schemas.microsoft.com/office/drawing/2014/main" id="{3982E655-D67C-057B-E7E1-D3763972B05C}"/>
              </a:ext>
            </a:extLst>
          </p:cNvPr>
          <p:cNvSpPr>
            <a:spLocks noGrp="1"/>
          </p:cNvSpPr>
          <p:nvPr>
            <p:ph idx="1"/>
          </p:nvPr>
        </p:nvSpPr>
        <p:spPr/>
        <p:txBody>
          <a:bodyPr vert="horz" lIns="91440" tIns="45720" rIns="91440" bIns="45720" rtlCol="0" anchor="t">
            <a:normAutofit/>
          </a:bodyPr>
          <a:lstStyle/>
          <a:p>
            <a:r>
              <a:rPr lang="en-GB"/>
              <a:t>When an array has lots of data in it, we need to think about how we might find an item in it?</a:t>
            </a:r>
          </a:p>
          <a:p>
            <a:endParaRPr lang="en-GB" dirty="0"/>
          </a:p>
          <a:p>
            <a:r>
              <a:rPr lang="en-GB"/>
              <a:t>What if we want to find a specific user from a list of users?</a:t>
            </a:r>
          </a:p>
          <a:p>
            <a:endParaRPr lang="en-GB" dirty="0"/>
          </a:p>
          <a:p>
            <a:r>
              <a:rPr lang="en-GB"/>
              <a:t>Search for a score in a list of scores?</a:t>
            </a:r>
          </a:p>
          <a:p>
            <a:endParaRPr lang="en-GB" dirty="0"/>
          </a:p>
          <a:p>
            <a:r>
              <a:rPr lang="en-GB"/>
              <a:t>We need to implement a function to search the list.</a:t>
            </a:r>
            <a:endParaRPr lang="en-GB" dirty="0"/>
          </a:p>
        </p:txBody>
      </p:sp>
    </p:spTree>
    <p:extLst>
      <p:ext uri="{BB962C8B-B14F-4D97-AF65-F5344CB8AC3E}">
        <p14:creationId xmlns:p14="http://schemas.microsoft.com/office/powerpoint/2010/main" val="3230718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EDA3-5FFA-2568-813D-8A3325A70A5A}"/>
              </a:ext>
            </a:extLst>
          </p:cNvPr>
          <p:cNvSpPr>
            <a:spLocks noGrp="1"/>
          </p:cNvSpPr>
          <p:nvPr>
            <p:ph type="title"/>
          </p:nvPr>
        </p:nvSpPr>
        <p:spPr/>
        <p:txBody>
          <a:bodyPr/>
          <a:lstStyle/>
          <a:p>
            <a:r>
              <a:rPr lang="en-GB" dirty="0"/>
              <a:t>Linear Search - Pseudocode</a:t>
            </a:r>
          </a:p>
        </p:txBody>
      </p:sp>
      <p:pic>
        <p:nvPicPr>
          <p:cNvPr id="4" name="Content Placeholder 3" descr="A computer code with black text&#10;&#10;AI-generated content may be incorrect.">
            <a:extLst>
              <a:ext uri="{FF2B5EF4-FFF2-40B4-BE49-F238E27FC236}">
                <a16:creationId xmlns:a16="http://schemas.microsoft.com/office/drawing/2014/main" id="{57533992-E05F-4435-BAF8-A01EFBB5AEB8}"/>
              </a:ext>
            </a:extLst>
          </p:cNvPr>
          <p:cNvPicPr>
            <a:picLocks noGrp="1" noChangeAspect="1"/>
          </p:cNvPicPr>
          <p:nvPr>
            <p:ph idx="1"/>
          </p:nvPr>
        </p:nvPicPr>
        <p:blipFill>
          <a:blip r:embed="rId2"/>
          <a:stretch>
            <a:fillRect/>
          </a:stretch>
        </p:blipFill>
        <p:spPr>
          <a:xfrm>
            <a:off x="3200400" y="2524919"/>
            <a:ext cx="5791200" cy="2952750"/>
          </a:xfrm>
          <a:prstGeom prst="rect">
            <a:avLst/>
          </a:prstGeom>
        </p:spPr>
      </p:pic>
    </p:spTree>
    <p:extLst>
      <p:ext uri="{BB962C8B-B14F-4D97-AF65-F5344CB8AC3E}">
        <p14:creationId xmlns:p14="http://schemas.microsoft.com/office/powerpoint/2010/main" val="3668060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E399F-BA70-F3C6-21D1-AB32592D64D2}"/>
              </a:ext>
            </a:extLst>
          </p:cNvPr>
          <p:cNvSpPr>
            <a:spLocks noGrp="1"/>
          </p:cNvSpPr>
          <p:nvPr>
            <p:ph type="title"/>
          </p:nvPr>
        </p:nvSpPr>
        <p:spPr/>
        <p:txBody>
          <a:bodyPr/>
          <a:lstStyle/>
          <a:p>
            <a:r>
              <a:rPr lang="en-GB" dirty="0"/>
              <a:t>Linear Search - Implementation</a:t>
            </a:r>
          </a:p>
        </p:txBody>
      </p:sp>
      <p:pic>
        <p:nvPicPr>
          <p:cNvPr id="7" name="Content Placeholder 6" descr="A screen shot of a computer code&#10;&#10;AI-generated content may be incorrect.">
            <a:extLst>
              <a:ext uri="{FF2B5EF4-FFF2-40B4-BE49-F238E27FC236}">
                <a16:creationId xmlns:a16="http://schemas.microsoft.com/office/drawing/2014/main" id="{80E766DF-F731-2720-4BBE-C1CC36594385}"/>
              </a:ext>
            </a:extLst>
          </p:cNvPr>
          <p:cNvPicPr>
            <a:picLocks noGrp="1" noChangeAspect="1"/>
          </p:cNvPicPr>
          <p:nvPr>
            <p:ph idx="1"/>
          </p:nvPr>
        </p:nvPicPr>
        <p:blipFill>
          <a:blip r:embed="rId2"/>
          <a:stretch>
            <a:fillRect/>
          </a:stretch>
        </p:blipFill>
        <p:spPr>
          <a:xfrm>
            <a:off x="4157662" y="3148806"/>
            <a:ext cx="3876675" cy="1704975"/>
          </a:xfrm>
          <a:prstGeom prst="rect">
            <a:avLst/>
          </a:prstGeom>
        </p:spPr>
      </p:pic>
    </p:spTree>
    <p:extLst>
      <p:ext uri="{BB962C8B-B14F-4D97-AF65-F5344CB8AC3E}">
        <p14:creationId xmlns:p14="http://schemas.microsoft.com/office/powerpoint/2010/main" val="4257894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BEC0F-BD0B-7A52-9365-551EA22B3F2F}"/>
              </a:ext>
            </a:extLst>
          </p:cNvPr>
          <p:cNvSpPr>
            <a:spLocks noGrp="1"/>
          </p:cNvSpPr>
          <p:nvPr>
            <p:ph type="title"/>
          </p:nvPr>
        </p:nvSpPr>
        <p:spPr/>
        <p:txBody>
          <a:bodyPr/>
          <a:lstStyle/>
          <a:p>
            <a:r>
              <a:rPr lang="en-GB" dirty="0"/>
              <a:t>What are some problems with this implementation?</a:t>
            </a:r>
          </a:p>
        </p:txBody>
      </p:sp>
      <p:pic>
        <p:nvPicPr>
          <p:cNvPr id="4" name="Content Placeholder 3" descr="A screenshot of a computer program&#10;&#10;AI-generated content may be incorrect.">
            <a:extLst>
              <a:ext uri="{FF2B5EF4-FFF2-40B4-BE49-F238E27FC236}">
                <a16:creationId xmlns:a16="http://schemas.microsoft.com/office/drawing/2014/main" id="{F380DCD8-40B8-826E-76F2-EC1285B35149}"/>
              </a:ext>
            </a:extLst>
          </p:cNvPr>
          <p:cNvPicPr>
            <a:picLocks noGrp="1" noChangeAspect="1"/>
          </p:cNvPicPr>
          <p:nvPr>
            <p:ph idx="1"/>
          </p:nvPr>
        </p:nvPicPr>
        <p:blipFill>
          <a:blip r:embed="rId2"/>
          <a:stretch>
            <a:fillRect/>
          </a:stretch>
        </p:blipFill>
        <p:spPr>
          <a:xfrm>
            <a:off x="2332157" y="1825625"/>
            <a:ext cx="7527686" cy="4351338"/>
          </a:xfrm>
          <a:prstGeom prst="rect">
            <a:avLst/>
          </a:prstGeom>
        </p:spPr>
      </p:pic>
    </p:spTree>
    <p:extLst>
      <p:ext uri="{BB962C8B-B14F-4D97-AF65-F5344CB8AC3E}">
        <p14:creationId xmlns:p14="http://schemas.microsoft.com/office/powerpoint/2010/main" val="2880265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EBDD-B27C-1451-BCA4-69FC98FC387B}"/>
              </a:ext>
            </a:extLst>
          </p:cNvPr>
          <p:cNvSpPr>
            <a:spLocks noGrp="1"/>
          </p:cNvSpPr>
          <p:nvPr>
            <p:ph type="title"/>
          </p:nvPr>
        </p:nvSpPr>
        <p:spPr/>
        <p:txBody>
          <a:bodyPr/>
          <a:lstStyle/>
          <a:p>
            <a:r>
              <a:rPr lang="en-GB"/>
              <a:t>Binary Search</a:t>
            </a:r>
          </a:p>
        </p:txBody>
      </p:sp>
      <p:sp>
        <p:nvSpPr>
          <p:cNvPr id="3" name="Content Placeholder 2">
            <a:extLst>
              <a:ext uri="{FF2B5EF4-FFF2-40B4-BE49-F238E27FC236}">
                <a16:creationId xmlns:a16="http://schemas.microsoft.com/office/drawing/2014/main" id="{44B61209-E522-0C20-25A8-908A2F44DA07}"/>
              </a:ext>
            </a:extLst>
          </p:cNvPr>
          <p:cNvSpPr>
            <a:spLocks noGrp="1"/>
          </p:cNvSpPr>
          <p:nvPr>
            <p:ph idx="1"/>
          </p:nvPr>
        </p:nvSpPr>
        <p:spPr/>
        <p:txBody>
          <a:bodyPr vert="horz" lIns="91440" tIns="45720" rIns="91440" bIns="45720" rtlCol="0" anchor="t">
            <a:normAutofit/>
          </a:bodyPr>
          <a:lstStyle/>
          <a:p>
            <a:r>
              <a:rPr lang="en-GB" dirty="0"/>
              <a:t>I am thinking of a number between 1 and 100. </a:t>
            </a:r>
            <a:r>
              <a:rPr lang="en-GB" dirty="0" err="1"/>
              <a:t>Everytime</a:t>
            </a:r>
            <a:r>
              <a:rPr lang="en-GB" dirty="0"/>
              <a:t> you guess I will tell you if the number is higher or lower</a:t>
            </a:r>
          </a:p>
          <a:p>
            <a:endParaRPr lang="en-GB" dirty="0"/>
          </a:p>
          <a:p>
            <a:r>
              <a:rPr lang="en-GB" dirty="0"/>
              <a:t>Try to guess what </a:t>
            </a:r>
            <a:r>
              <a:rPr lang="en-GB"/>
              <a:t>I am</a:t>
            </a:r>
            <a:r>
              <a:rPr lang="en-GB" dirty="0"/>
              <a:t> thinking of? </a:t>
            </a:r>
          </a:p>
          <a:p>
            <a:endParaRPr lang="en-GB" dirty="0"/>
          </a:p>
          <a:p>
            <a:r>
              <a:rPr lang="en-GB"/>
              <a:t>How many guesses does it take?</a:t>
            </a:r>
            <a:endParaRPr lang="en-GB" dirty="0"/>
          </a:p>
          <a:p>
            <a:endParaRPr lang="en-GB" dirty="0"/>
          </a:p>
          <a:p>
            <a:pPr marL="0" indent="0">
              <a:buNone/>
            </a:pPr>
            <a:endParaRPr lang="en-GB" dirty="0"/>
          </a:p>
        </p:txBody>
      </p:sp>
    </p:spTree>
    <p:extLst>
      <p:ext uri="{BB962C8B-B14F-4D97-AF65-F5344CB8AC3E}">
        <p14:creationId xmlns:p14="http://schemas.microsoft.com/office/powerpoint/2010/main" val="2378021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D686-2285-5F74-C064-72477982404C}"/>
              </a:ext>
            </a:extLst>
          </p:cNvPr>
          <p:cNvSpPr>
            <a:spLocks noGrp="1"/>
          </p:cNvSpPr>
          <p:nvPr>
            <p:ph type="title"/>
          </p:nvPr>
        </p:nvSpPr>
        <p:spPr/>
        <p:txBody>
          <a:bodyPr/>
          <a:lstStyle/>
          <a:p>
            <a:r>
              <a:rPr lang="en-GB"/>
              <a:t>Binary Search - Theory</a:t>
            </a:r>
          </a:p>
        </p:txBody>
      </p:sp>
      <p:pic>
        <p:nvPicPr>
          <p:cNvPr id="4" name="Content Placeholder 3" descr="A screenshot of a graph&#10;&#10;AI-generated content may be incorrect.">
            <a:extLst>
              <a:ext uri="{FF2B5EF4-FFF2-40B4-BE49-F238E27FC236}">
                <a16:creationId xmlns:a16="http://schemas.microsoft.com/office/drawing/2014/main" id="{3990370F-78BF-531E-8F2F-96A524804FF7}"/>
              </a:ext>
            </a:extLst>
          </p:cNvPr>
          <p:cNvPicPr>
            <a:picLocks noGrp="1" noChangeAspect="1"/>
          </p:cNvPicPr>
          <p:nvPr>
            <p:ph idx="1"/>
          </p:nvPr>
        </p:nvPicPr>
        <p:blipFill>
          <a:blip r:embed="rId2"/>
          <a:stretch>
            <a:fillRect/>
          </a:stretch>
        </p:blipFill>
        <p:spPr>
          <a:xfrm>
            <a:off x="2052484" y="1911939"/>
            <a:ext cx="7386483" cy="3699387"/>
          </a:xfrm>
          <a:prstGeom prst="rect">
            <a:avLst/>
          </a:prstGeom>
        </p:spPr>
      </p:pic>
      <p:sp>
        <p:nvSpPr>
          <p:cNvPr id="5" name="TextBox 4">
            <a:extLst>
              <a:ext uri="{FF2B5EF4-FFF2-40B4-BE49-F238E27FC236}">
                <a16:creationId xmlns:a16="http://schemas.microsoft.com/office/drawing/2014/main" id="{BC2A2D25-BA72-B4D5-3433-E7439415806E}"/>
              </a:ext>
            </a:extLst>
          </p:cNvPr>
          <p:cNvSpPr txBox="1"/>
          <p:nvPr/>
        </p:nvSpPr>
        <p:spPr>
          <a:xfrm>
            <a:off x="8792809" y="5280533"/>
            <a:ext cx="314329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Source: </a:t>
            </a:r>
            <a:r>
              <a:rPr lang="en-GB" dirty="0">
                <a:ea typeface="+mn-lt"/>
                <a:cs typeface="+mn-lt"/>
                <a:hlinkClick r:id="rId3"/>
              </a:rPr>
              <a:t>https://www.geeksforgeeks.org/dsa/binary-search/</a:t>
            </a:r>
            <a:r>
              <a:rPr lang="en-GB" dirty="0">
                <a:ea typeface="+mn-lt"/>
                <a:cs typeface="+mn-lt"/>
              </a:rPr>
              <a:t> </a:t>
            </a:r>
          </a:p>
        </p:txBody>
      </p:sp>
    </p:spTree>
    <p:extLst>
      <p:ext uri="{BB962C8B-B14F-4D97-AF65-F5344CB8AC3E}">
        <p14:creationId xmlns:p14="http://schemas.microsoft.com/office/powerpoint/2010/main" val="102738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7847A-041A-E5E1-9140-F8E953966EDE}"/>
              </a:ext>
            </a:extLst>
          </p:cNvPr>
          <p:cNvSpPr>
            <a:spLocks noGrp="1"/>
          </p:cNvSpPr>
          <p:nvPr>
            <p:ph type="title"/>
          </p:nvPr>
        </p:nvSpPr>
        <p:spPr/>
        <p:txBody>
          <a:bodyPr/>
          <a:lstStyle/>
          <a:p>
            <a:r>
              <a:rPr lang="en-GB"/>
              <a:t>Binary Search – Bonus  </a:t>
            </a:r>
            <a:endParaRPr lang="en-GB" dirty="0"/>
          </a:p>
        </p:txBody>
      </p:sp>
      <p:pic>
        <p:nvPicPr>
          <p:cNvPr id="4" name="Content Placeholder 3" descr="A white paper with black text&#10;&#10;AI-generated content may be incorrect.">
            <a:extLst>
              <a:ext uri="{FF2B5EF4-FFF2-40B4-BE49-F238E27FC236}">
                <a16:creationId xmlns:a16="http://schemas.microsoft.com/office/drawing/2014/main" id="{E48445D7-F5BC-3C0C-5132-4D0BD8BE940E}"/>
              </a:ext>
            </a:extLst>
          </p:cNvPr>
          <p:cNvPicPr>
            <a:picLocks noGrp="1" noChangeAspect="1"/>
          </p:cNvPicPr>
          <p:nvPr>
            <p:ph idx="1"/>
          </p:nvPr>
        </p:nvPicPr>
        <p:blipFill>
          <a:blip r:embed="rId2"/>
          <a:stretch>
            <a:fillRect/>
          </a:stretch>
        </p:blipFill>
        <p:spPr>
          <a:xfrm>
            <a:off x="1411241" y="2001471"/>
            <a:ext cx="4422380" cy="4351338"/>
          </a:xfrm>
          <a:prstGeom prst="rect">
            <a:avLst/>
          </a:prstGeom>
        </p:spPr>
      </p:pic>
      <p:sp>
        <p:nvSpPr>
          <p:cNvPr id="3" name="TextBox 2">
            <a:extLst>
              <a:ext uri="{FF2B5EF4-FFF2-40B4-BE49-F238E27FC236}">
                <a16:creationId xmlns:a16="http://schemas.microsoft.com/office/drawing/2014/main" id="{3619CF51-6E8F-93D1-256A-F14134890508}"/>
              </a:ext>
            </a:extLst>
          </p:cNvPr>
          <p:cNvSpPr txBox="1"/>
          <p:nvPr/>
        </p:nvSpPr>
        <p:spPr>
          <a:xfrm>
            <a:off x="6611084" y="2610211"/>
            <a:ext cx="43151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Try to implement your own Binary Search </a:t>
            </a:r>
            <a:r>
              <a:rPr lang="en-GB"/>
              <a:t>algorithm using this pseudocode</a:t>
            </a:r>
          </a:p>
        </p:txBody>
      </p:sp>
      <p:sp>
        <p:nvSpPr>
          <p:cNvPr id="5" name="TextBox 4">
            <a:extLst>
              <a:ext uri="{FF2B5EF4-FFF2-40B4-BE49-F238E27FC236}">
                <a16:creationId xmlns:a16="http://schemas.microsoft.com/office/drawing/2014/main" id="{3817247E-C492-3DBE-805B-CCB37E7FB157}"/>
              </a:ext>
            </a:extLst>
          </p:cNvPr>
          <p:cNvSpPr txBox="1"/>
          <p:nvPr/>
        </p:nvSpPr>
        <p:spPr>
          <a:xfrm>
            <a:off x="6611083" y="4321779"/>
            <a:ext cx="431512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Keep in mind th</a:t>
            </a:r>
            <a:r>
              <a:rPr lang="en-GB"/>
              <a:t>e list must be pre-sorted. We will cover sorting in Week 9 so just use a pre-sorted list for now.</a:t>
            </a:r>
            <a:endParaRPr lang="en-US"/>
          </a:p>
        </p:txBody>
      </p:sp>
    </p:spTree>
    <p:extLst>
      <p:ext uri="{BB962C8B-B14F-4D97-AF65-F5344CB8AC3E}">
        <p14:creationId xmlns:p14="http://schemas.microsoft.com/office/powerpoint/2010/main" val="1895373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01A35-D5C3-DA8D-97C6-CF07A7673802}"/>
              </a:ext>
            </a:extLst>
          </p:cNvPr>
          <p:cNvSpPr>
            <a:spLocks noGrp="1"/>
          </p:cNvSpPr>
          <p:nvPr>
            <p:ph type="title"/>
          </p:nvPr>
        </p:nvSpPr>
        <p:spPr/>
        <p:txBody>
          <a:bodyPr/>
          <a:lstStyle/>
          <a:p>
            <a:r>
              <a:rPr lang="en-GB" dirty="0"/>
              <a:t>Searching Arrays - Python</a:t>
            </a:r>
          </a:p>
        </p:txBody>
      </p:sp>
      <p:pic>
        <p:nvPicPr>
          <p:cNvPr id="4" name="Content Placeholder 3" descr="A computer screen shot of a code&#10;&#10;AI-generated content may be incorrect.">
            <a:extLst>
              <a:ext uri="{FF2B5EF4-FFF2-40B4-BE49-F238E27FC236}">
                <a16:creationId xmlns:a16="http://schemas.microsoft.com/office/drawing/2014/main" id="{EFB8B462-08A3-3BE4-8A07-184EC14953A3}"/>
              </a:ext>
            </a:extLst>
          </p:cNvPr>
          <p:cNvPicPr>
            <a:picLocks noGrp="1" noChangeAspect="1"/>
          </p:cNvPicPr>
          <p:nvPr>
            <p:ph idx="1"/>
          </p:nvPr>
        </p:nvPicPr>
        <p:blipFill>
          <a:blip r:embed="rId2"/>
          <a:stretch>
            <a:fillRect/>
          </a:stretch>
        </p:blipFill>
        <p:spPr>
          <a:xfrm>
            <a:off x="1505683" y="2857561"/>
            <a:ext cx="3295650" cy="1466850"/>
          </a:xfrm>
          <a:prstGeom prst="rect">
            <a:avLst/>
          </a:prstGeom>
        </p:spPr>
      </p:pic>
      <p:sp>
        <p:nvSpPr>
          <p:cNvPr id="3" name="TextBox 2">
            <a:extLst>
              <a:ext uri="{FF2B5EF4-FFF2-40B4-BE49-F238E27FC236}">
                <a16:creationId xmlns:a16="http://schemas.microsoft.com/office/drawing/2014/main" id="{04A37FE3-34A3-28BD-36C0-4F000CBC2A02}"/>
              </a:ext>
            </a:extLst>
          </p:cNvPr>
          <p:cNvSpPr txBox="1"/>
          <p:nvPr/>
        </p:nvSpPr>
        <p:spPr>
          <a:xfrm>
            <a:off x="6374871" y="2198777"/>
            <a:ext cx="36224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Also see: Lecture for W6 and the accomp</a:t>
            </a:r>
            <a:r>
              <a:rPr lang="en-GB"/>
              <a:t>anying code.</a:t>
            </a:r>
          </a:p>
        </p:txBody>
      </p:sp>
    </p:spTree>
    <p:extLst>
      <p:ext uri="{BB962C8B-B14F-4D97-AF65-F5344CB8AC3E}">
        <p14:creationId xmlns:p14="http://schemas.microsoft.com/office/powerpoint/2010/main" val="1616842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B87DD-2728-B39C-B8E7-FDF05ED6F633}"/>
              </a:ext>
            </a:extLst>
          </p:cNvPr>
          <p:cNvSpPr>
            <a:spLocks noGrp="1"/>
          </p:cNvSpPr>
          <p:nvPr>
            <p:ph type="title"/>
          </p:nvPr>
        </p:nvSpPr>
        <p:spPr/>
        <p:txBody>
          <a:bodyPr/>
          <a:lstStyle/>
          <a:p>
            <a:r>
              <a:rPr lang="en-GB"/>
              <a:t>Pointers, stack &amp; heap - Theory</a:t>
            </a:r>
            <a:endParaRPr lang="en-GB" dirty="0"/>
          </a:p>
        </p:txBody>
      </p:sp>
      <p:sp>
        <p:nvSpPr>
          <p:cNvPr id="3" name="Content Placeholder 2">
            <a:extLst>
              <a:ext uri="{FF2B5EF4-FFF2-40B4-BE49-F238E27FC236}">
                <a16:creationId xmlns:a16="http://schemas.microsoft.com/office/drawing/2014/main" id="{D17C3A66-F45C-5F36-A025-A8263E2CA175}"/>
              </a:ext>
            </a:extLst>
          </p:cNvPr>
          <p:cNvSpPr>
            <a:spLocks noGrp="1"/>
          </p:cNvSpPr>
          <p:nvPr>
            <p:ph idx="1"/>
          </p:nvPr>
        </p:nvSpPr>
        <p:spPr/>
        <p:txBody>
          <a:bodyPr vert="horz" lIns="91440" tIns="45720" rIns="91440" bIns="45720" rtlCol="0" anchor="t">
            <a:normAutofit/>
          </a:bodyPr>
          <a:lstStyle/>
          <a:p>
            <a:r>
              <a:rPr lang="en-GB" dirty="0"/>
              <a:t>We're going to look at what happens under the hood of the memory in the computer when a program runs.</a:t>
            </a:r>
          </a:p>
          <a:p>
            <a:endParaRPr lang="en-GB" dirty="0"/>
          </a:p>
          <a:p>
            <a:r>
              <a:rPr lang="en-GB" dirty="0"/>
              <a:t>This is very important to know when working with low level languages like C or Rust.</a:t>
            </a:r>
          </a:p>
          <a:p>
            <a:endParaRPr lang="en-GB" dirty="0"/>
          </a:p>
          <a:p>
            <a:r>
              <a:rPr lang="en-GB" dirty="0"/>
              <a:t>We will study it anyway because </a:t>
            </a:r>
            <a:r>
              <a:rPr lang="en-GB"/>
              <a:t>it is useful to know, but the Python Memory Manager will handle it behind the scenes when writing python programs. </a:t>
            </a:r>
            <a:endParaRPr lang="en-GB" dirty="0"/>
          </a:p>
        </p:txBody>
      </p:sp>
    </p:spTree>
    <p:extLst>
      <p:ext uri="{BB962C8B-B14F-4D97-AF65-F5344CB8AC3E}">
        <p14:creationId xmlns:p14="http://schemas.microsoft.com/office/powerpoint/2010/main" val="1982171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A3EC-D975-C60D-8647-019A6B0B52EF}"/>
              </a:ext>
            </a:extLst>
          </p:cNvPr>
          <p:cNvSpPr>
            <a:spLocks noGrp="1"/>
          </p:cNvSpPr>
          <p:nvPr>
            <p:ph type="title"/>
          </p:nvPr>
        </p:nvSpPr>
        <p:spPr/>
        <p:txBody>
          <a:bodyPr/>
          <a:lstStyle/>
          <a:p>
            <a:r>
              <a:rPr lang="en-GB"/>
              <a:t>Parameter Passing</a:t>
            </a:r>
          </a:p>
        </p:txBody>
      </p:sp>
      <p:pic>
        <p:nvPicPr>
          <p:cNvPr id="4" name="Content Placeholder 3" descr="A white background with black text&#10;&#10;AI-generated content may be incorrect.">
            <a:extLst>
              <a:ext uri="{FF2B5EF4-FFF2-40B4-BE49-F238E27FC236}">
                <a16:creationId xmlns:a16="http://schemas.microsoft.com/office/drawing/2014/main" id="{BF63D6B5-B28F-4F70-3568-EC36185F1891}"/>
              </a:ext>
            </a:extLst>
          </p:cNvPr>
          <p:cNvPicPr>
            <a:picLocks noGrp="1" noChangeAspect="1"/>
          </p:cNvPicPr>
          <p:nvPr>
            <p:ph idx="1"/>
          </p:nvPr>
        </p:nvPicPr>
        <p:blipFill>
          <a:blip r:embed="rId2"/>
          <a:stretch>
            <a:fillRect/>
          </a:stretch>
        </p:blipFill>
        <p:spPr>
          <a:xfrm>
            <a:off x="4238625" y="2720181"/>
            <a:ext cx="3714750" cy="2562225"/>
          </a:xfrm>
          <a:prstGeom prst="rect">
            <a:avLst/>
          </a:prstGeom>
        </p:spPr>
      </p:pic>
    </p:spTree>
    <p:extLst>
      <p:ext uri="{BB962C8B-B14F-4D97-AF65-F5344CB8AC3E}">
        <p14:creationId xmlns:p14="http://schemas.microsoft.com/office/powerpoint/2010/main" val="525367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EFF6-4FD2-0D8C-283F-A5657548765C}"/>
              </a:ext>
            </a:extLst>
          </p:cNvPr>
          <p:cNvSpPr>
            <a:spLocks noGrp="1"/>
          </p:cNvSpPr>
          <p:nvPr>
            <p:ph type="title"/>
          </p:nvPr>
        </p:nvSpPr>
        <p:spPr/>
        <p:txBody>
          <a:bodyPr/>
          <a:lstStyle/>
          <a:p>
            <a:r>
              <a:rPr lang="en-GB"/>
              <a:t>Pass By Value</a:t>
            </a:r>
          </a:p>
        </p:txBody>
      </p:sp>
      <p:sp>
        <p:nvSpPr>
          <p:cNvPr id="3" name="Content Placeholder 2">
            <a:extLst>
              <a:ext uri="{FF2B5EF4-FFF2-40B4-BE49-F238E27FC236}">
                <a16:creationId xmlns:a16="http://schemas.microsoft.com/office/drawing/2014/main" id="{5D745C4B-E10C-82B2-43F1-E2BAA562EAA0}"/>
              </a:ext>
            </a:extLst>
          </p:cNvPr>
          <p:cNvSpPr>
            <a:spLocks noGrp="1"/>
          </p:cNvSpPr>
          <p:nvPr>
            <p:ph idx="1"/>
          </p:nvPr>
        </p:nvSpPr>
        <p:spPr/>
        <p:txBody>
          <a:bodyPr vert="horz" lIns="91440" tIns="45720" rIns="91440" bIns="45720" rtlCol="0" anchor="t">
            <a:normAutofit/>
          </a:bodyPr>
          <a:lstStyle/>
          <a:p>
            <a:r>
              <a:rPr lang="en-GB">
                <a:ea typeface="+mn-lt"/>
                <a:cs typeface="+mn-lt"/>
              </a:rPr>
              <a:t>Pass by value takes a copy of the variable and passes it to the called function or procedure:</a:t>
            </a:r>
            <a:endParaRPr lang="en-GB"/>
          </a:p>
          <a:p>
            <a:endParaRPr lang="en-GB"/>
          </a:p>
          <a:p>
            <a:r>
              <a:rPr lang="en-GB" dirty="0"/>
              <a:t>The original value is unchanged, a copy is made in the memory.</a:t>
            </a:r>
          </a:p>
          <a:p>
            <a:endParaRPr lang="en-GB" dirty="0"/>
          </a:p>
          <a:p>
            <a:r>
              <a:rPr lang="en-GB"/>
              <a:t>Can be slower, have overhead for large copies.</a:t>
            </a:r>
            <a:endParaRPr lang="en-GB" dirty="0"/>
          </a:p>
        </p:txBody>
      </p:sp>
    </p:spTree>
    <p:extLst>
      <p:ext uri="{BB962C8B-B14F-4D97-AF65-F5344CB8AC3E}">
        <p14:creationId xmlns:p14="http://schemas.microsoft.com/office/powerpoint/2010/main" val="3033806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F9CE-FA52-0A45-6E7D-ABFD1D25A48E}"/>
              </a:ext>
            </a:extLst>
          </p:cNvPr>
          <p:cNvSpPr>
            <a:spLocks noGrp="1"/>
          </p:cNvSpPr>
          <p:nvPr>
            <p:ph type="title"/>
          </p:nvPr>
        </p:nvSpPr>
        <p:spPr/>
        <p:txBody>
          <a:bodyPr/>
          <a:lstStyle/>
          <a:p>
            <a:r>
              <a:rPr lang="en-GB"/>
              <a:t>Pass by Reference</a:t>
            </a:r>
          </a:p>
        </p:txBody>
      </p:sp>
      <p:sp>
        <p:nvSpPr>
          <p:cNvPr id="3" name="Content Placeholder 2">
            <a:extLst>
              <a:ext uri="{FF2B5EF4-FFF2-40B4-BE49-F238E27FC236}">
                <a16:creationId xmlns:a16="http://schemas.microsoft.com/office/drawing/2014/main" id="{8601E18B-1A9A-2585-4B26-CAE44CDC5468}"/>
              </a:ext>
            </a:extLst>
          </p:cNvPr>
          <p:cNvSpPr>
            <a:spLocks noGrp="1"/>
          </p:cNvSpPr>
          <p:nvPr>
            <p:ph idx="1"/>
          </p:nvPr>
        </p:nvSpPr>
        <p:spPr/>
        <p:txBody>
          <a:bodyPr vert="horz" lIns="91440" tIns="45720" rIns="91440" bIns="45720" rtlCol="0" anchor="t">
            <a:normAutofit/>
          </a:bodyPr>
          <a:lstStyle/>
          <a:p>
            <a:r>
              <a:rPr lang="en-GB" dirty="0"/>
              <a:t>Instead of making a </a:t>
            </a:r>
            <a:r>
              <a:rPr lang="en-GB"/>
              <a:t>copy, the memory address of the original is passed to the function.</a:t>
            </a:r>
          </a:p>
          <a:p>
            <a:endParaRPr lang="en-GB" dirty="0"/>
          </a:p>
          <a:p>
            <a:r>
              <a:rPr lang="en-GB"/>
              <a:t>Changes made to the data change the original. There is no backup.</a:t>
            </a:r>
          </a:p>
          <a:p>
            <a:endParaRPr lang="en-GB" dirty="0"/>
          </a:p>
          <a:p>
            <a:r>
              <a:rPr lang="en-GB"/>
              <a:t>Faster for large objects but is less safe.</a:t>
            </a:r>
            <a:endParaRPr lang="en-GB" dirty="0"/>
          </a:p>
        </p:txBody>
      </p:sp>
    </p:spTree>
    <p:extLst>
      <p:ext uri="{BB962C8B-B14F-4D97-AF65-F5344CB8AC3E}">
        <p14:creationId xmlns:p14="http://schemas.microsoft.com/office/powerpoint/2010/main" val="3889285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47D9-2948-BEEE-7227-ECC177BC6810}"/>
              </a:ext>
            </a:extLst>
          </p:cNvPr>
          <p:cNvSpPr>
            <a:spLocks noGrp="1"/>
          </p:cNvSpPr>
          <p:nvPr>
            <p:ph type="title"/>
          </p:nvPr>
        </p:nvSpPr>
        <p:spPr/>
        <p:txBody>
          <a:bodyPr/>
          <a:lstStyle/>
          <a:p>
            <a:r>
              <a:rPr lang="en-GB"/>
              <a:t>Python uses </a:t>
            </a:r>
            <a:r>
              <a:rPr lang="en-GB">
                <a:ea typeface="+mj-lt"/>
                <a:cs typeface="+mj-lt"/>
              </a:rPr>
              <a:t>Pass by Object Reference</a:t>
            </a:r>
            <a:endParaRPr lang="en-GB"/>
          </a:p>
        </p:txBody>
      </p:sp>
      <p:sp>
        <p:nvSpPr>
          <p:cNvPr id="3" name="Content Placeholder 2">
            <a:extLst>
              <a:ext uri="{FF2B5EF4-FFF2-40B4-BE49-F238E27FC236}">
                <a16:creationId xmlns:a16="http://schemas.microsoft.com/office/drawing/2014/main" id="{9F740551-46FC-AEBD-8E2F-AFCC7D63B469}"/>
              </a:ext>
            </a:extLst>
          </p:cNvPr>
          <p:cNvSpPr>
            <a:spLocks noGrp="1"/>
          </p:cNvSpPr>
          <p:nvPr>
            <p:ph idx="1"/>
          </p:nvPr>
        </p:nvSpPr>
        <p:spPr/>
        <p:txBody>
          <a:bodyPr vert="horz" lIns="91440" tIns="45720" rIns="91440" bIns="45720" rtlCol="0" anchor="t">
            <a:normAutofit/>
          </a:bodyPr>
          <a:lstStyle/>
          <a:p>
            <a:r>
              <a:rPr lang="en-GB"/>
              <a:t>In Python we pass not by reference or by value. </a:t>
            </a:r>
          </a:p>
          <a:p>
            <a:r>
              <a:rPr lang="en-GB" dirty="0"/>
              <a:t>In python everything is an object. Objects can be Mutable </a:t>
            </a:r>
            <a:r>
              <a:rPr lang="en-GB"/>
              <a:t>(changing) or Immutable</a:t>
            </a:r>
            <a:r>
              <a:rPr lang="en-GB" dirty="0"/>
              <a:t> (unchanging) </a:t>
            </a:r>
          </a:p>
          <a:p>
            <a:endParaRPr lang="en-GB" dirty="0"/>
          </a:p>
          <a:p>
            <a:r>
              <a:rPr lang="en-GB"/>
              <a:t>Int, str, float etc are examples of Immutable data.</a:t>
            </a:r>
          </a:p>
          <a:p>
            <a:endParaRPr lang="en-GB" dirty="0"/>
          </a:p>
          <a:p>
            <a:r>
              <a:rPr lang="en-GB"/>
              <a:t>Lists, objects are examples of mutable data.</a:t>
            </a:r>
            <a:endParaRPr lang="en-GB" dirty="0"/>
          </a:p>
        </p:txBody>
      </p:sp>
    </p:spTree>
    <p:extLst>
      <p:ext uri="{BB962C8B-B14F-4D97-AF65-F5344CB8AC3E}">
        <p14:creationId xmlns:p14="http://schemas.microsoft.com/office/powerpoint/2010/main" val="559493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E96DD-DC54-9CE3-9E53-E6ADB087068A}"/>
              </a:ext>
            </a:extLst>
          </p:cNvPr>
          <p:cNvSpPr>
            <a:spLocks noGrp="1"/>
          </p:cNvSpPr>
          <p:nvPr>
            <p:ph type="title"/>
          </p:nvPr>
        </p:nvSpPr>
        <p:spPr/>
        <p:txBody>
          <a:bodyPr/>
          <a:lstStyle/>
          <a:p>
            <a:r>
              <a:rPr lang="en-GB"/>
              <a:t>Python Immutable Example</a:t>
            </a:r>
          </a:p>
        </p:txBody>
      </p:sp>
      <p:pic>
        <p:nvPicPr>
          <p:cNvPr id="4" name="Content Placeholder 3" descr="A screenshot of a computer program&#10;&#10;AI-generated content may be incorrect.">
            <a:extLst>
              <a:ext uri="{FF2B5EF4-FFF2-40B4-BE49-F238E27FC236}">
                <a16:creationId xmlns:a16="http://schemas.microsoft.com/office/drawing/2014/main" id="{7346FF57-91CD-F37A-F497-C811A6AED188}"/>
              </a:ext>
            </a:extLst>
          </p:cNvPr>
          <p:cNvPicPr>
            <a:picLocks noGrp="1" noChangeAspect="1"/>
          </p:cNvPicPr>
          <p:nvPr>
            <p:ph idx="1"/>
          </p:nvPr>
        </p:nvPicPr>
        <p:blipFill>
          <a:blip r:embed="rId2"/>
          <a:stretch>
            <a:fillRect/>
          </a:stretch>
        </p:blipFill>
        <p:spPr>
          <a:xfrm>
            <a:off x="3772747" y="1825625"/>
            <a:ext cx="4646505" cy="4351338"/>
          </a:xfrm>
          <a:prstGeom prst="rect">
            <a:avLst/>
          </a:prstGeom>
        </p:spPr>
      </p:pic>
    </p:spTree>
    <p:extLst>
      <p:ext uri="{BB962C8B-B14F-4D97-AF65-F5344CB8AC3E}">
        <p14:creationId xmlns:p14="http://schemas.microsoft.com/office/powerpoint/2010/main" val="580210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618F-33F4-E5ED-2B7D-3F93170365BE}"/>
              </a:ext>
            </a:extLst>
          </p:cNvPr>
          <p:cNvSpPr>
            <a:spLocks noGrp="1"/>
          </p:cNvSpPr>
          <p:nvPr>
            <p:ph type="title"/>
          </p:nvPr>
        </p:nvSpPr>
        <p:spPr/>
        <p:txBody>
          <a:bodyPr/>
          <a:lstStyle/>
          <a:p>
            <a:r>
              <a:rPr lang="en-GB"/>
              <a:t>Python Mutable Example</a:t>
            </a:r>
          </a:p>
        </p:txBody>
      </p:sp>
      <p:pic>
        <p:nvPicPr>
          <p:cNvPr id="7" name="Content Placeholder 6" descr="A screenshot of a computer program&#10;&#10;AI-generated content may be incorrect.">
            <a:extLst>
              <a:ext uri="{FF2B5EF4-FFF2-40B4-BE49-F238E27FC236}">
                <a16:creationId xmlns:a16="http://schemas.microsoft.com/office/drawing/2014/main" id="{A33F3560-7F2D-E17B-16AA-9320672813A4}"/>
              </a:ext>
            </a:extLst>
          </p:cNvPr>
          <p:cNvPicPr>
            <a:picLocks noGrp="1" noChangeAspect="1"/>
          </p:cNvPicPr>
          <p:nvPr>
            <p:ph idx="1"/>
          </p:nvPr>
        </p:nvPicPr>
        <p:blipFill>
          <a:blip r:embed="rId2"/>
          <a:stretch>
            <a:fillRect/>
          </a:stretch>
        </p:blipFill>
        <p:spPr>
          <a:xfrm>
            <a:off x="4242085" y="1825625"/>
            <a:ext cx="3707830" cy="4351338"/>
          </a:xfrm>
          <a:prstGeom prst="rect">
            <a:avLst/>
          </a:prstGeom>
        </p:spPr>
      </p:pic>
    </p:spTree>
    <p:extLst>
      <p:ext uri="{BB962C8B-B14F-4D97-AF65-F5344CB8AC3E}">
        <p14:creationId xmlns:p14="http://schemas.microsoft.com/office/powerpoint/2010/main" val="4068721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6B754-3E50-B814-82BC-0DEF3F6FDAD5}"/>
              </a:ext>
            </a:extLst>
          </p:cNvPr>
          <p:cNvSpPr>
            <a:spLocks noGrp="1"/>
          </p:cNvSpPr>
          <p:nvPr>
            <p:ph type="title"/>
          </p:nvPr>
        </p:nvSpPr>
        <p:spPr/>
        <p:txBody>
          <a:bodyPr/>
          <a:lstStyle/>
          <a:p>
            <a:r>
              <a:rPr lang="en-GB"/>
              <a:t>Stack &amp; Heap </a:t>
            </a:r>
          </a:p>
        </p:txBody>
      </p:sp>
      <p:pic>
        <p:nvPicPr>
          <p:cNvPr id="4" name="Content Placeholder 3" descr="A screenshot of a computer&#10;&#10;AI-generated content may be incorrect.">
            <a:extLst>
              <a:ext uri="{FF2B5EF4-FFF2-40B4-BE49-F238E27FC236}">
                <a16:creationId xmlns:a16="http://schemas.microsoft.com/office/drawing/2014/main" id="{B9F41F06-3870-11C3-7253-57C0337D56FB}"/>
              </a:ext>
            </a:extLst>
          </p:cNvPr>
          <p:cNvPicPr>
            <a:picLocks noGrp="1" noChangeAspect="1"/>
          </p:cNvPicPr>
          <p:nvPr>
            <p:ph idx="1"/>
          </p:nvPr>
        </p:nvPicPr>
        <p:blipFill>
          <a:blip r:embed="rId2"/>
          <a:stretch>
            <a:fillRect/>
          </a:stretch>
        </p:blipFill>
        <p:spPr>
          <a:xfrm>
            <a:off x="1047750" y="2072481"/>
            <a:ext cx="10096500" cy="3857625"/>
          </a:xfrm>
          <a:prstGeom prst="rect">
            <a:avLst/>
          </a:prstGeom>
        </p:spPr>
      </p:pic>
    </p:spTree>
    <p:extLst>
      <p:ext uri="{BB962C8B-B14F-4D97-AF65-F5344CB8AC3E}">
        <p14:creationId xmlns:p14="http://schemas.microsoft.com/office/powerpoint/2010/main" val="2939725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A1AC6-4E82-92B6-330E-BB33AA5CEF7A}"/>
              </a:ext>
            </a:extLst>
          </p:cNvPr>
          <p:cNvSpPr>
            <a:spLocks noGrp="1"/>
          </p:cNvSpPr>
          <p:nvPr>
            <p:ph type="title"/>
          </p:nvPr>
        </p:nvSpPr>
        <p:spPr/>
        <p:txBody>
          <a:bodyPr/>
          <a:lstStyle/>
          <a:p>
            <a:r>
              <a:rPr lang="en-GB"/>
              <a:t>Memory Diagram</a:t>
            </a:r>
          </a:p>
        </p:txBody>
      </p:sp>
      <p:pic>
        <p:nvPicPr>
          <p:cNvPr id="4" name="Content Placeholder 3" descr="A diagram of a computer&#10;&#10;AI-generated content may be incorrect.">
            <a:extLst>
              <a:ext uri="{FF2B5EF4-FFF2-40B4-BE49-F238E27FC236}">
                <a16:creationId xmlns:a16="http://schemas.microsoft.com/office/drawing/2014/main" id="{16E0C6E3-7335-CB4B-324B-CECC53EBEA7C}"/>
              </a:ext>
            </a:extLst>
          </p:cNvPr>
          <p:cNvPicPr>
            <a:picLocks noGrp="1" noChangeAspect="1"/>
          </p:cNvPicPr>
          <p:nvPr>
            <p:ph idx="1"/>
          </p:nvPr>
        </p:nvPicPr>
        <p:blipFill>
          <a:blip r:embed="rId2"/>
          <a:stretch>
            <a:fillRect/>
          </a:stretch>
        </p:blipFill>
        <p:spPr>
          <a:xfrm>
            <a:off x="4242085" y="1825625"/>
            <a:ext cx="3707830" cy="4351338"/>
          </a:xfrm>
          <a:prstGeom prst="rect">
            <a:avLst/>
          </a:prstGeom>
        </p:spPr>
      </p:pic>
    </p:spTree>
    <p:extLst>
      <p:ext uri="{BB962C8B-B14F-4D97-AF65-F5344CB8AC3E}">
        <p14:creationId xmlns:p14="http://schemas.microsoft.com/office/powerpoint/2010/main" val="5339268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4F2ED-9E34-476C-5CDA-178FD0151F8E}"/>
              </a:ext>
            </a:extLst>
          </p:cNvPr>
          <p:cNvSpPr>
            <a:spLocks noGrp="1"/>
          </p:cNvSpPr>
          <p:nvPr>
            <p:ph type="title"/>
          </p:nvPr>
        </p:nvSpPr>
        <p:spPr/>
        <p:txBody>
          <a:bodyPr/>
          <a:lstStyle/>
          <a:p>
            <a:r>
              <a:rPr lang="en-GB"/>
              <a:t>Memory Diagram – Code Area</a:t>
            </a:r>
          </a:p>
        </p:txBody>
      </p:sp>
      <p:pic>
        <p:nvPicPr>
          <p:cNvPr id="4" name="Content Placeholder 3">
            <a:extLst>
              <a:ext uri="{FF2B5EF4-FFF2-40B4-BE49-F238E27FC236}">
                <a16:creationId xmlns:a16="http://schemas.microsoft.com/office/drawing/2014/main" id="{04905CF8-9D1F-C273-F9D2-9ADD8DAC89A1}"/>
              </a:ext>
            </a:extLst>
          </p:cNvPr>
          <p:cNvPicPr>
            <a:picLocks noGrp="1" noChangeAspect="1"/>
          </p:cNvPicPr>
          <p:nvPr>
            <p:ph idx="1"/>
          </p:nvPr>
        </p:nvPicPr>
        <p:blipFill>
          <a:blip r:embed="rId2"/>
          <a:stretch>
            <a:fillRect/>
          </a:stretch>
        </p:blipFill>
        <p:spPr>
          <a:xfrm>
            <a:off x="3948904" y="1825625"/>
            <a:ext cx="4294191" cy="4351338"/>
          </a:xfrm>
          <a:prstGeom prst="rect">
            <a:avLst/>
          </a:prstGeom>
        </p:spPr>
      </p:pic>
    </p:spTree>
    <p:extLst>
      <p:ext uri="{BB962C8B-B14F-4D97-AF65-F5344CB8AC3E}">
        <p14:creationId xmlns:p14="http://schemas.microsoft.com/office/powerpoint/2010/main" val="20213500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4A78-1B40-DDD6-5D5A-27E87E305BFA}"/>
              </a:ext>
            </a:extLst>
          </p:cNvPr>
          <p:cNvSpPr>
            <a:spLocks noGrp="1"/>
          </p:cNvSpPr>
          <p:nvPr>
            <p:ph type="title"/>
          </p:nvPr>
        </p:nvSpPr>
        <p:spPr/>
        <p:txBody>
          <a:bodyPr/>
          <a:lstStyle/>
          <a:p>
            <a:r>
              <a:rPr lang="en-GB"/>
              <a:t>Memory Diagram - Stack</a:t>
            </a:r>
            <a:endParaRPr lang="en-US"/>
          </a:p>
        </p:txBody>
      </p:sp>
      <p:pic>
        <p:nvPicPr>
          <p:cNvPr id="4" name="Content Placeholder 3">
            <a:extLst>
              <a:ext uri="{FF2B5EF4-FFF2-40B4-BE49-F238E27FC236}">
                <a16:creationId xmlns:a16="http://schemas.microsoft.com/office/drawing/2014/main" id="{590B5676-B2A4-D664-F7E9-DDFFC5743A5E}"/>
              </a:ext>
            </a:extLst>
          </p:cNvPr>
          <p:cNvPicPr>
            <a:picLocks noGrp="1" noChangeAspect="1"/>
          </p:cNvPicPr>
          <p:nvPr>
            <p:ph idx="1"/>
          </p:nvPr>
        </p:nvPicPr>
        <p:blipFill>
          <a:blip r:embed="rId2"/>
          <a:stretch>
            <a:fillRect/>
          </a:stretch>
        </p:blipFill>
        <p:spPr>
          <a:xfrm>
            <a:off x="3956659" y="1825625"/>
            <a:ext cx="4278681" cy="4351338"/>
          </a:xfrm>
          <a:prstGeom prst="rect">
            <a:avLst/>
          </a:prstGeom>
        </p:spPr>
      </p:pic>
    </p:spTree>
    <p:extLst>
      <p:ext uri="{BB962C8B-B14F-4D97-AF65-F5344CB8AC3E}">
        <p14:creationId xmlns:p14="http://schemas.microsoft.com/office/powerpoint/2010/main" val="2465954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5D6D-6776-6514-079E-6751AD28F3CC}"/>
              </a:ext>
            </a:extLst>
          </p:cNvPr>
          <p:cNvSpPr>
            <a:spLocks noGrp="1"/>
          </p:cNvSpPr>
          <p:nvPr>
            <p:ph type="title"/>
          </p:nvPr>
        </p:nvSpPr>
        <p:spPr/>
        <p:txBody>
          <a:bodyPr/>
          <a:lstStyle/>
          <a:p>
            <a:r>
              <a:rPr lang="en-GB"/>
              <a:t>Memory Diagram - Heap</a:t>
            </a:r>
            <a:endParaRPr lang="en-US"/>
          </a:p>
        </p:txBody>
      </p:sp>
      <p:pic>
        <p:nvPicPr>
          <p:cNvPr id="4" name="Content Placeholder 3">
            <a:extLst>
              <a:ext uri="{FF2B5EF4-FFF2-40B4-BE49-F238E27FC236}">
                <a16:creationId xmlns:a16="http://schemas.microsoft.com/office/drawing/2014/main" id="{A2B1B915-E4F7-44DC-51ED-3559E71FCB1E}"/>
              </a:ext>
            </a:extLst>
          </p:cNvPr>
          <p:cNvPicPr>
            <a:picLocks noGrp="1" noChangeAspect="1"/>
          </p:cNvPicPr>
          <p:nvPr>
            <p:ph idx="1"/>
          </p:nvPr>
        </p:nvPicPr>
        <p:blipFill>
          <a:blip r:embed="rId2"/>
          <a:stretch>
            <a:fillRect/>
          </a:stretch>
        </p:blipFill>
        <p:spPr>
          <a:xfrm>
            <a:off x="3908758" y="1825625"/>
            <a:ext cx="4374483" cy="4351338"/>
          </a:xfrm>
          <a:prstGeom prst="rect">
            <a:avLst/>
          </a:prstGeom>
        </p:spPr>
      </p:pic>
    </p:spTree>
    <p:extLst>
      <p:ext uri="{BB962C8B-B14F-4D97-AF65-F5344CB8AC3E}">
        <p14:creationId xmlns:p14="http://schemas.microsoft.com/office/powerpoint/2010/main" val="26317532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E1F8C-FB5C-1E03-9951-F8943DB1D8E5}"/>
              </a:ext>
            </a:extLst>
          </p:cNvPr>
          <p:cNvSpPr>
            <a:spLocks noGrp="1"/>
          </p:cNvSpPr>
          <p:nvPr>
            <p:ph type="title"/>
          </p:nvPr>
        </p:nvSpPr>
        <p:spPr/>
        <p:txBody>
          <a:bodyPr/>
          <a:lstStyle/>
          <a:p>
            <a:r>
              <a:rPr lang="en-GB"/>
              <a:t>Garbage Collection - Theory</a:t>
            </a:r>
          </a:p>
        </p:txBody>
      </p:sp>
      <p:pic>
        <p:nvPicPr>
          <p:cNvPr id="4" name="Content Placeholder 3" descr="A white background with black text&#10;&#10;AI-generated content may be incorrect.">
            <a:extLst>
              <a:ext uri="{FF2B5EF4-FFF2-40B4-BE49-F238E27FC236}">
                <a16:creationId xmlns:a16="http://schemas.microsoft.com/office/drawing/2014/main" id="{F39B0DA7-9010-6963-1470-2E7486B4B8C5}"/>
              </a:ext>
            </a:extLst>
          </p:cNvPr>
          <p:cNvPicPr>
            <a:picLocks noGrp="1" noChangeAspect="1"/>
          </p:cNvPicPr>
          <p:nvPr>
            <p:ph idx="1"/>
          </p:nvPr>
        </p:nvPicPr>
        <p:blipFill>
          <a:blip r:embed="rId2"/>
          <a:stretch>
            <a:fillRect/>
          </a:stretch>
        </p:blipFill>
        <p:spPr>
          <a:xfrm>
            <a:off x="838200" y="1932340"/>
            <a:ext cx="10515600" cy="4137908"/>
          </a:xfrm>
          <a:prstGeom prst="rect">
            <a:avLst/>
          </a:prstGeom>
        </p:spPr>
      </p:pic>
    </p:spTree>
    <p:extLst>
      <p:ext uri="{BB962C8B-B14F-4D97-AF65-F5344CB8AC3E}">
        <p14:creationId xmlns:p14="http://schemas.microsoft.com/office/powerpoint/2010/main" val="39420968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80FC-328A-742D-B06A-C534660F4507}"/>
              </a:ext>
            </a:extLst>
          </p:cNvPr>
          <p:cNvSpPr>
            <a:spLocks noGrp="1"/>
          </p:cNvSpPr>
          <p:nvPr>
            <p:ph type="title"/>
          </p:nvPr>
        </p:nvSpPr>
        <p:spPr/>
        <p:txBody>
          <a:bodyPr/>
          <a:lstStyle/>
          <a:p>
            <a:r>
              <a:rPr lang="en-GB"/>
              <a:t>Garbage Collection Python</a:t>
            </a:r>
          </a:p>
        </p:txBody>
      </p:sp>
      <p:pic>
        <p:nvPicPr>
          <p:cNvPr id="4" name="Content Placeholder 3" descr="A screenshot of a computer&#10;&#10;AI-generated content may be incorrect.">
            <a:extLst>
              <a:ext uri="{FF2B5EF4-FFF2-40B4-BE49-F238E27FC236}">
                <a16:creationId xmlns:a16="http://schemas.microsoft.com/office/drawing/2014/main" id="{32B4B2BE-0C66-A940-F7E3-9860DD1DF2DD}"/>
              </a:ext>
            </a:extLst>
          </p:cNvPr>
          <p:cNvPicPr>
            <a:picLocks noGrp="1" noChangeAspect="1"/>
          </p:cNvPicPr>
          <p:nvPr>
            <p:ph idx="1"/>
          </p:nvPr>
        </p:nvPicPr>
        <p:blipFill>
          <a:blip r:embed="rId2"/>
          <a:stretch>
            <a:fillRect/>
          </a:stretch>
        </p:blipFill>
        <p:spPr>
          <a:xfrm>
            <a:off x="3309219" y="2516068"/>
            <a:ext cx="7634743" cy="3565526"/>
          </a:xfrm>
          <a:prstGeom prst="rect">
            <a:avLst/>
          </a:prstGeom>
        </p:spPr>
      </p:pic>
      <p:sp>
        <p:nvSpPr>
          <p:cNvPr id="5" name="TextBox 4">
            <a:extLst>
              <a:ext uri="{FF2B5EF4-FFF2-40B4-BE49-F238E27FC236}">
                <a16:creationId xmlns:a16="http://schemas.microsoft.com/office/drawing/2014/main" id="{8BF5368A-4FD2-B9A2-9F02-0F477D20BB29}"/>
              </a:ext>
            </a:extLst>
          </p:cNvPr>
          <p:cNvSpPr txBox="1"/>
          <p:nvPr/>
        </p:nvSpPr>
        <p:spPr>
          <a:xfrm>
            <a:off x="542619" y="2746696"/>
            <a:ext cx="226010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You don't need to manually delete a reference to an object unless you want to free up the space.</a:t>
            </a:r>
          </a:p>
          <a:p>
            <a:r>
              <a:rPr lang="en-GB" dirty="0"/>
              <a:t>Please note del doesn't delete it from memory, it deletes the reference so the GC will clean it up later.</a:t>
            </a:r>
          </a:p>
        </p:txBody>
      </p:sp>
      <p:sp>
        <p:nvSpPr>
          <p:cNvPr id="6" name="TextBox 5">
            <a:extLst>
              <a:ext uri="{FF2B5EF4-FFF2-40B4-BE49-F238E27FC236}">
                <a16:creationId xmlns:a16="http://schemas.microsoft.com/office/drawing/2014/main" id="{3BE9F4D3-F16D-E3BE-1D4D-FFE93B609D7A}"/>
              </a:ext>
            </a:extLst>
          </p:cNvPr>
          <p:cNvSpPr txBox="1"/>
          <p:nvPr/>
        </p:nvSpPr>
        <p:spPr>
          <a:xfrm>
            <a:off x="832695" y="1687040"/>
            <a:ext cx="932701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Python used a Garbage Collector to free up memory when no references to the data exist. It's automatic and behind the scenes.</a:t>
            </a:r>
          </a:p>
        </p:txBody>
      </p:sp>
    </p:spTree>
    <p:extLst>
      <p:ext uri="{BB962C8B-B14F-4D97-AF65-F5344CB8AC3E}">
        <p14:creationId xmlns:p14="http://schemas.microsoft.com/office/powerpoint/2010/main" val="3686397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927D-DFBD-EC7C-28A9-D6D6039CC1B7}"/>
              </a:ext>
            </a:extLst>
          </p:cNvPr>
          <p:cNvSpPr>
            <a:spLocks noGrp="1"/>
          </p:cNvSpPr>
          <p:nvPr>
            <p:ph type="title"/>
          </p:nvPr>
        </p:nvSpPr>
        <p:spPr/>
        <p:txBody>
          <a:bodyPr/>
          <a:lstStyle/>
          <a:p>
            <a:r>
              <a:rPr lang="en-GB" dirty="0"/>
              <a:t>Custom Project Design</a:t>
            </a:r>
          </a:p>
        </p:txBody>
      </p:sp>
      <p:pic>
        <p:nvPicPr>
          <p:cNvPr id="4" name="Content Placeholder 3" descr="A screenshot of a computer program&#10;&#10;AI-generated content may be incorrect.">
            <a:extLst>
              <a:ext uri="{FF2B5EF4-FFF2-40B4-BE49-F238E27FC236}">
                <a16:creationId xmlns:a16="http://schemas.microsoft.com/office/drawing/2014/main" id="{0968667B-351F-7D0C-24A2-94CE940F9D15}"/>
              </a:ext>
            </a:extLst>
          </p:cNvPr>
          <p:cNvPicPr>
            <a:picLocks noGrp="1" noChangeAspect="1"/>
          </p:cNvPicPr>
          <p:nvPr>
            <p:ph idx="1"/>
          </p:nvPr>
        </p:nvPicPr>
        <p:blipFill>
          <a:blip r:embed="rId2"/>
          <a:stretch>
            <a:fillRect/>
          </a:stretch>
        </p:blipFill>
        <p:spPr>
          <a:xfrm>
            <a:off x="838200" y="3299190"/>
            <a:ext cx="10515600" cy="2599962"/>
          </a:xfrm>
          <a:prstGeom prst="rect">
            <a:avLst/>
          </a:prstGeom>
        </p:spPr>
      </p:pic>
      <p:sp>
        <p:nvSpPr>
          <p:cNvPr id="3" name="TextBox 2">
            <a:extLst>
              <a:ext uri="{FF2B5EF4-FFF2-40B4-BE49-F238E27FC236}">
                <a16:creationId xmlns:a16="http://schemas.microsoft.com/office/drawing/2014/main" id="{7F5A9B4F-F350-A0EA-E6AC-00971DDA7698}"/>
              </a:ext>
            </a:extLst>
          </p:cNvPr>
          <p:cNvSpPr txBox="1"/>
          <p:nvPr/>
        </p:nvSpPr>
        <p:spPr>
          <a:xfrm>
            <a:off x="1012386" y="1629309"/>
            <a:ext cx="99340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It's time to start thinking about the design of your Custom Program. If </a:t>
            </a:r>
            <a:r>
              <a:rPr lang="en-GB"/>
              <a:t>you are</a:t>
            </a:r>
            <a:r>
              <a:rPr lang="en-GB" dirty="0"/>
              <a:t> unsure about what you want to do please reach out.</a:t>
            </a:r>
          </a:p>
        </p:txBody>
      </p:sp>
    </p:spTree>
    <p:extLst>
      <p:ext uri="{BB962C8B-B14F-4D97-AF65-F5344CB8AC3E}">
        <p14:creationId xmlns:p14="http://schemas.microsoft.com/office/powerpoint/2010/main" val="2298523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67659-FC81-C2AC-12CA-CEC9A663DC03}"/>
              </a:ext>
            </a:extLst>
          </p:cNvPr>
          <p:cNvSpPr>
            <a:spLocks noGrp="1"/>
          </p:cNvSpPr>
          <p:nvPr>
            <p:ph type="title"/>
          </p:nvPr>
        </p:nvSpPr>
        <p:spPr/>
        <p:txBody>
          <a:bodyPr/>
          <a:lstStyle/>
          <a:p>
            <a:r>
              <a:rPr lang="en-GB" dirty="0"/>
              <a:t>Upcoming Week 9</a:t>
            </a:r>
          </a:p>
        </p:txBody>
      </p:sp>
      <p:sp>
        <p:nvSpPr>
          <p:cNvPr id="3" name="Content Placeholder 2">
            <a:extLst>
              <a:ext uri="{FF2B5EF4-FFF2-40B4-BE49-F238E27FC236}">
                <a16:creationId xmlns:a16="http://schemas.microsoft.com/office/drawing/2014/main" id="{3E913B55-AEA9-F900-D0C9-7B77675FA56D}"/>
              </a:ext>
            </a:extLst>
          </p:cNvPr>
          <p:cNvSpPr>
            <a:spLocks noGrp="1"/>
          </p:cNvSpPr>
          <p:nvPr>
            <p:ph idx="1"/>
          </p:nvPr>
        </p:nvSpPr>
        <p:spPr/>
        <p:txBody>
          <a:bodyPr vert="horz" lIns="91440" tIns="45720" rIns="91440" bIns="45720" rtlCol="0" anchor="t">
            <a:normAutofit/>
          </a:bodyPr>
          <a:lstStyle/>
          <a:p>
            <a:r>
              <a:rPr lang="en-GB"/>
              <a:t>Music player submission</a:t>
            </a:r>
          </a:p>
          <a:p>
            <a:endParaRPr lang="en-GB" dirty="0"/>
          </a:p>
          <a:p>
            <a:r>
              <a:rPr lang="en-GB" dirty="0"/>
              <a:t>This is a major task, you will have to demonstrate and explain your code in order to pass.</a:t>
            </a:r>
          </a:p>
          <a:p>
            <a:r>
              <a:rPr lang="en-GB"/>
              <a:t>You MUST use While loops only for this task and will not pass if you use any other kind.</a:t>
            </a:r>
            <a:endParaRPr lang="en-GB" dirty="0"/>
          </a:p>
          <a:p>
            <a:endParaRPr lang="en-GB" dirty="0"/>
          </a:p>
          <a:p>
            <a:endParaRPr lang="en-GB" dirty="0"/>
          </a:p>
        </p:txBody>
      </p:sp>
      <p:pic>
        <p:nvPicPr>
          <p:cNvPr id="4" name="Picture 3" descr="A black text on a white background&#10;&#10;AI-generated content may be incorrect.">
            <a:extLst>
              <a:ext uri="{FF2B5EF4-FFF2-40B4-BE49-F238E27FC236}">
                <a16:creationId xmlns:a16="http://schemas.microsoft.com/office/drawing/2014/main" id="{7BA5835B-D8D1-14F2-8189-C7D2813CED72}"/>
              </a:ext>
            </a:extLst>
          </p:cNvPr>
          <p:cNvPicPr>
            <a:picLocks noChangeAspect="1"/>
          </p:cNvPicPr>
          <p:nvPr/>
        </p:nvPicPr>
        <p:blipFill>
          <a:blip r:embed="rId2"/>
          <a:stretch>
            <a:fillRect/>
          </a:stretch>
        </p:blipFill>
        <p:spPr>
          <a:xfrm>
            <a:off x="1836494" y="4751875"/>
            <a:ext cx="8143875" cy="1152525"/>
          </a:xfrm>
          <a:prstGeom prst="rect">
            <a:avLst/>
          </a:prstGeom>
        </p:spPr>
      </p:pic>
    </p:spTree>
    <p:extLst>
      <p:ext uri="{BB962C8B-B14F-4D97-AF65-F5344CB8AC3E}">
        <p14:creationId xmlns:p14="http://schemas.microsoft.com/office/powerpoint/2010/main" val="452692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B6CF-AF2A-AE2D-05A4-ADB88B8CB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5635A-C73E-233B-827F-C59F0E0E6493}"/>
              </a:ext>
            </a:extLst>
          </p:cNvPr>
          <p:cNvSpPr>
            <a:spLocks noGrp="1"/>
          </p:cNvSpPr>
          <p:nvPr>
            <p:ph type="title"/>
          </p:nvPr>
        </p:nvSpPr>
        <p:spPr/>
        <p:txBody>
          <a:bodyPr/>
          <a:lstStyle/>
          <a:p>
            <a:r>
              <a:rPr lang="en-GB"/>
              <a:t>Problem Scenario - Can you solve it? </a:t>
            </a:r>
          </a:p>
        </p:txBody>
      </p:sp>
      <p:sp>
        <p:nvSpPr>
          <p:cNvPr id="3" name="Content Placeholder 2">
            <a:extLst>
              <a:ext uri="{FF2B5EF4-FFF2-40B4-BE49-F238E27FC236}">
                <a16:creationId xmlns:a16="http://schemas.microsoft.com/office/drawing/2014/main" id="{5A5B992F-677C-092D-4238-22664AB0148F}"/>
              </a:ext>
            </a:extLst>
          </p:cNvPr>
          <p:cNvSpPr>
            <a:spLocks noGrp="1"/>
          </p:cNvSpPr>
          <p:nvPr>
            <p:ph idx="1"/>
          </p:nvPr>
        </p:nvSpPr>
        <p:spPr/>
        <p:txBody>
          <a:bodyPr vert="horz" lIns="91440" tIns="45720" rIns="91440" bIns="45720" rtlCol="0" anchor="t">
            <a:normAutofit/>
          </a:bodyPr>
          <a:lstStyle/>
          <a:p>
            <a:pPr marL="0" indent="0">
              <a:buNone/>
            </a:pPr>
            <a:r>
              <a:rPr lang="en-GB" b="1" dirty="0">
                <a:latin typeface="Aptos Display"/>
                <a:ea typeface="+mn-lt"/>
                <a:cs typeface="+mn-lt"/>
              </a:rPr>
              <a:t> You have:</a:t>
            </a:r>
            <a:endParaRPr lang="en-GB" dirty="0">
              <a:latin typeface="Aptos Display"/>
              <a:ea typeface="+mn-lt"/>
              <a:cs typeface="+mn-lt"/>
            </a:endParaRPr>
          </a:p>
          <a:p>
            <a:r>
              <a:rPr lang="en-GB" dirty="0">
                <a:latin typeface="Aptos Display"/>
                <a:ea typeface="+mn-lt"/>
                <a:cs typeface="+mn-lt"/>
              </a:rPr>
              <a:t>players = ["Tom", "Sara", "Leo", "Mina"]</a:t>
            </a:r>
            <a:br>
              <a:rPr lang="en-GB" dirty="0">
                <a:latin typeface="Aptos Display"/>
                <a:ea typeface="+mn-lt"/>
                <a:cs typeface="+mn-lt"/>
              </a:rPr>
            </a:br>
            <a:r>
              <a:rPr lang="en-GB" dirty="0">
                <a:latin typeface="Aptos Display"/>
                <a:ea typeface="+mn-lt"/>
                <a:cs typeface="+mn-lt"/>
              </a:rPr>
              <a:t>scores = [150, 200, 120, 180]</a:t>
            </a:r>
          </a:p>
          <a:p>
            <a:r>
              <a:rPr lang="en-GB" dirty="0">
                <a:latin typeface="Aptos Display"/>
                <a:ea typeface="+mn-lt"/>
                <a:cs typeface="+mn-lt"/>
              </a:rPr>
              <a:t>Tasks:</a:t>
            </a:r>
          </a:p>
          <a:p>
            <a:r>
              <a:rPr lang="en-GB" dirty="0">
                <a:latin typeface="Aptos Display"/>
                <a:ea typeface="+mn-lt"/>
                <a:cs typeface="+mn-lt"/>
              </a:rPr>
              <a:t>Find the highest score</a:t>
            </a:r>
          </a:p>
          <a:p>
            <a:r>
              <a:rPr lang="en-GB" dirty="0">
                <a:latin typeface="Aptos Display"/>
                <a:ea typeface="+mn-lt"/>
                <a:cs typeface="+mn-lt"/>
              </a:rPr>
              <a:t>Print the name of the winner</a:t>
            </a:r>
          </a:p>
          <a:p>
            <a:r>
              <a:rPr lang="en-GB" dirty="0">
                <a:latin typeface="Aptos Display"/>
                <a:ea typeface="+mn-lt"/>
                <a:cs typeface="+mn-lt"/>
              </a:rPr>
              <a:t>Find the rank of a given player</a:t>
            </a:r>
          </a:p>
          <a:p>
            <a:endParaRPr lang="en-GB" dirty="0"/>
          </a:p>
        </p:txBody>
      </p:sp>
      <p:pic>
        <p:nvPicPr>
          <p:cNvPr id="5" name="Content Placeholder 6" descr="A screenshot of a video game&#10;&#10;AI-generated content may be incorrect.">
            <a:extLst>
              <a:ext uri="{FF2B5EF4-FFF2-40B4-BE49-F238E27FC236}">
                <a16:creationId xmlns:a16="http://schemas.microsoft.com/office/drawing/2014/main" id="{ACC48737-32D4-DB9E-FD75-3F78B78DEB60}"/>
              </a:ext>
            </a:extLst>
          </p:cNvPr>
          <p:cNvPicPr>
            <a:picLocks noChangeAspect="1"/>
          </p:cNvPicPr>
          <p:nvPr/>
        </p:nvPicPr>
        <p:blipFill>
          <a:blip r:embed="rId2"/>
          <a:stretch>
            <a:fillRect/>
          </a:stretch>
        </p:blipFill>
        <p:spPr>
          <a:xfrm>
            <a:off x="7289041" y="2175932"/>
            <a:ext cx="4305300" cy="3525865"/>
          </a:xfrm>
          <a:prstGeom prst="rect">
            <a:avLst/>
          </a:prstGeom>
        </p:spPr>
      </p:pic>
    </p:spTree>
    <p:extLst>
      <p:ext uri="{BB962C8B-B14F-4D97-AF65-F5344CB8AC3E}">
        <p14:creationId xmlns:p14="http://schemas.microsoft.com/office/powerpoint/2010/main" val="4156988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583b3fa-365b-4fa2-9885-a560b35483b3}" enabled="1" method="Standard" siteId="{df7f7579-3e9c-4a7e-b844-420280f53859}"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COS10009 Week 7</vt:lpstr>
      <vt:lpstr>Today we will cover the following topics:</vt:lpstr>
      <vt:lpstr>Review</vt:lpstr>
      <vt:lpstr>Review – Warmup Task </vt:lpstr>
      <vt:lpstr>Concept Map Example</vt:lpstr>
      <vt:lpstr>Problem Scenario - Think about... </vt:lpstr>
      <vt:lpstr>Advanced Arrays &amp; Lists</vt:lpstr>
      <vt:lpstr>Arrays in Concept</vt:lpstr>
      <vt:lpstr>Arrays in Concept</vt:lpstr>
      <vt:lpstr>Arrays in Concept – Static vs Dynamic</vt:lpstr>
      <vt:lpstr>Arrays in Concept – Static vs Dynamic</vt:lpstr>
      <vt:lpstr>Arrays in Concept - Dangers</vt:lpstr>
      <vt:lpstr>Arrays in Concept - Dangers</vt:lpstr>
      <vt:lpstr>Arrays in Concept – 2D Arrays</vt:lpstr>
      <vt:lpstr>Arrays in Concept – 2D Arrays</vt:lpstr>
      <vt:lpstr>Arrays in Concept – 2D Arrays</vt:lpstr>
      <vt:lpstr>Python Lists</vt:lpstr>
      <vt:lpstr>Lists are ordered</vt:lpstr>
      <vt:lpstr>Lists are Mutable (Changeable)</vt:lpstr>
      <vt:lpstr>Lists allow duplicates</vt:lpstr>
      <vt:lpstr>List Comprehensions</vt:lpstr>
      <vt:lpstr>List Methods</vt:lpstr>
      <vt:lpstr>Searching Arrays - Theory</vt:lpstr>
      <vt:lpstr>Linear Search - Pseudocode</vt:lpstr>
      <vt:lpstr>Linear Search - Implementation</vt:lpstr>
      <vt:lpstr>What are some problems with this implementation?</vt:lpstr>
      <vt:lpstr>Binary Search</vt:lpstr>
      <vt:lpstr>Binary Search - Theory</vt:lpstr>
      <vt:lpstr>Binary Search – Bonus  </vt:lpstr>
      <vt:lpstr>Searching Arrays - Python</vt:lpstr>
      <vt:lpstr>Pointers, stack &amp; heap - Theory</vt:lpstr>
      <vt:lpstr>Parameter Passing</vt:lpstr>
      <vt:lpstr>Pass By Value</vt:lpstr>
      <vt:lpstr>Pass by Reference</vt:lpstr>
      <vt:lpstr>Python uses Pass by Object Reference</vt:lpstr>
      <vt:lpstr>Python Immutable Example</vt:lpstr>
      <vt:lpstr>Python Mutable Example</vt:lpstr>
      <vt:lpstr>Stack &amp; Heap </vt:lpstr>
      <vt:lpstr>Memory Diagram</vt:lpstr>
      <vt:lpstr>Memory Diagram – Code Area</vt:lpstr>
      <vt:lpstr>Memory Diagram - Stack</vt:lpstr>
      <vt:lpstr>Memory Diagram - Heap</vt:lpstr>
      <vt:lpstr>Garbage Collection - Theory</vt:lpstr>
      <vt:lpstr>Garbage Collection Python</vt:lpstr>
      <vt:lpstr>Custom Project Design</vt:lpstr>
      <vt:lpstr>Upcoming Week 9</vt:lpstr>
      <vt:lpstr>Problem Scenario - Can you solve it?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487</cp:revision>
  <dcterms:created xsi:type="dcterms:W3CDTF">2026-02-03T04:22:47Z</dcterms:created>
  <dcterms:modified xsi:type="dcterms:W3CDTF">2026-03-01T10:55:50Z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Internal</vt:lpwstr>
  </property>
</Properties>
</file>